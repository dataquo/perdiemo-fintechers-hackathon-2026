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embeddedFontLst>
    <p:embeddedFont>
      <p:font typeface="Plus Jakarta Sans"/>
      <p:regular r:id="rId24"/>
      <p:bold r:id="rId25"/>
      <p:italic r:id="rId26"/>
      <p:boldItalic r:id="rId27"/>
    </p:embeddedFont>
    <p:embeddedFont>
      <p:font typeface="Space Grotesk"/>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0" roundtripDataSignature="AMtx7mgyoSQO2XaA3UUVP6LnSukvDveC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lusJakartaSans-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lusJakartaSans-italic.fntdata"/><Relationship Id="rId25" Type="http://schemas.openxmlformats.org/officeDocument/2006/relationships/font" Target="fonts/PlusJakartaSans-bold.fntdata"/><Relationship Id="rId28" Type="http://schemas.openxmlformats.org/officeDocument/2006/relationships/font" Target="fonts/SpaceGrotesk-regular.fntdata"/><Relationship Id="rId27" Type="http://schemas.openxmlformats.org/officeDocument/2006/relationships/font" Target="fonts/PlusJakartaSans-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SpaceGrotesk-bold.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Shown while we walk up. Expense forms are dead. Just talk and snap, get your money back. The amount is the real result of the Prague to Munich demo trip in PerDiemo.</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0:00–0:30. Meet Martin. Manager and founder of PerDiemo. 30 business trips a year. Every year he loses about 15 receipts and spends two working days on expense forms. That's 24,000 crowns lost every year: half is his own money he never claims back, half is company money paid for paperwork, not work. A company with 500 managers like Martin loses 12 million crowns a year. And somewhere, an accountant re-checks every one of Martin's 30 trips by hand. Expense management is still a mess.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Basis (for Q&amp;A): 15 hours x ~800 CZK/hour senior manager cost incl. levies = ~12,000 CZK; 2 unclaimed trips (Germany per diem EUR 50/day, decree 489/2025) + 15 lost receipts x ~400 CZK = ~12,000 CZK. Martin's own estimate.</a:t>
            </a:r>
            <a:endParaRPr/>
          </a:p>
        </p:txBody>
      </p:sp>
      <p:sp>
        <p:nvSpPr>
          <p:cNvPr id="99" name="Google Shape;99;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h75579fc710a7a87f_0_0: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h75579fc710a7a87f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case 1: an entrepreneur with about 40 trips a year. Today: manual Excel after every trip. PerDiemo turns a plain-language trip description into a legally compliant PDF or Excel.</a:t>
            </a:r>
            <a:endParaRPr/>
          </a:p>
        </p:txBody>
      </p:sp>
      <p:sp>
        <p:nvSpPr>
          <p:cNvPr id="124" name="Google Shape;124;h75579fc710a7a87f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h18d92c90695434c9_2_1: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h18d92c90695434c9_2_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case 1: an entrepreneur with about 40 trips a year. Today: manual Excel after every trip. PerDiemo turns a plain-language trip description into a legally compliant PDF or Excel.</a:t>
            </a:r>
            <a:endParaRPr/>
          </a:p>
        </p:txBody>
      </p:sp>
      <p:sp>
        <p:nvSpPr>
          <p:cNvPr id="152" name="Google Shape;152;h18d92c90695434c9_2_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h18d92c90695434c9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h18d92c90695434c9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0:40–2:20. Live demo, one end-to-end flow. Start in the chat, not with a button, so "zero clicks" holds. Key line at the explanation step: AI reads, rules decide. Backup: screen recording if the wifi or the demo fails.</a:t>
            </a:r>
            <a:endParaRPr/>
          </a:p>
        </p:txBody>
      </p:sp>
      <p:sp>
        <p:nvSpPr>
          <p:cNvPr id="160" name="Google Shape;160;h18d92c90695434c9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h75579fc710a7a87f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h75579fc710a7a87f_0_74: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h75579fc710a7a87f_0_27: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h75579fc710a7a87f_0_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case 2: the employee pays with a corporate card. Card transactions are enriched with merchant and category, processed automatically and non-compliance is flagged. AI prompts plus deterministic API calls to the trips engine. The employee gets trips created from payments; the manager approves or lets the AI copilot fix issues.</a:t>
            </a:r>
            <a:endParaRPr/>
          </a:p>
        </p:txBody>
      </p:sp>
      <p:sp>
        <p:nvSpPr>
          <p:cNvPr id="203" name="Google Shape;203;h75579fc710a7a87f_0_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h18d92c90695434c9_2_29: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h18d92c90695434c9_2_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case 2: the employee pays with a corporate card. Card transactions are enriched with merchant and category, processed automatically and non-compliance is flagged. AI prompts plus deterministic API calls to the trips engine. The employee gets trips created from payments; the manager approves or lets the AI copilot fix issues.</a:t>
            </a:r>
            <a:endParaRPr/>
          </a:p>
        </p:txBody>
      </p:sp>
      <p:sp>
        <p:nvSpPr>
          <p:cNvPr id="231" name="Google Shape;231;h18d92c90695434c9_2_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2:20–2:50. Our customer is the large company with hundreds of travelling managers, and the buyer is the CFO. A company with 500 Martins loses about 12 million crowns a year. Corporate cards already see every payment; we close the trip. We sell an annual licence plus a fee per closed trip, directly and through the banks that issue corporate cards and advisory firms like Deloitte. For a bank, it is a reason for corporates to keep their cards with them. Czech law today, and every EU country is a new rulebook we own. And this is not a GPT wrapper: a chatbot can describe payments, but it cannot calculate per diems by law and defend them in an audit. Our engine can, and the data stays in the EU.</a:t>
            </a:r>
            <a:endParaRPr/>
          </a:p>
        </p:txBody>
      </p:sp>
      <p:sp>
        <p:nvSpPr>
          <p:cNvPr id="239" name="Google Shape;239;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h75579fc710a7a87f_0_54: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h75579fc710a7a87f_0_5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case 3: corporate card plus receipts. Today someone cross-checks invoices against card transactions by hand. AI vision and OCR extract invoice data, and the model matches each invoice to its card transaction.</a:t>
            </a:r>
            <a:endParaRPr/>
          </a:p>
        </p:txBody>
      </p:sp>
      <p:sp>
        <p:nvSpPr>
          <p:cNvPr id="267" name="Google Shape;267;h75579fc710a7a87f_0_5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h18d92c90695434c9_2_57: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h18d92c90695434c9_2_5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case 3: corporate card plus receipts. Today someone cross-checks invoices against card transactions by hand. AI vision and OCR extract invoice data, and the model matches each invoice to its card transaction.</a:t>
            </a:r>
            <a:endParaRPr/>
          </a:p>
        </p:txBody>
      </p:sp>
      <p:sp>
        <p:nvSpPr>
          <p:cNvPr id="288" name="Google Shape;288;h18d92c90695434c9_2_5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 name="Google Shape;29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Martin dictates the trip. Snaps the receipt. The agent matches it with his card payments, calculates by law and pays him. That's it. (If receipt matching is not finished for the demo, say: card payments are matched automatically.)</a:t>
            </a:r>
            <a:endParaRPr/>
          </a:p>
        </p:txBody>
      </p:sp>
      <p:sp>
        <p:nvSpPr>
          <p:cNvPr id="296" name="Google Shape;296;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2:50–3:00. We're looking for one bank to pilot this with real business-card transactions. Talk to us. Leave this slide on screen during Q&amp;A.</a:t>
            </a:r>
            <a:endParaRPr/>
          </a:p>
        </p:txBody>
      </p:sp>
      <p:sp>
        <p:nvSpPr>
          <p:cNvPr id="330" name="Google Shape;330;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SaaS model. Free: 10 trips a year (live today). Business: annual plan with no per-user fees (live today). Enterprise: our focus, the AI agent for large companies, priced as an annual licence plus a fee per closed trip. Partner: white-label for banks and card issuers, API and MCP, revenue share. Exact prices to be confirmed by Martin.</a:t>
            </a:r>
            <a:endParaRPr/>
          </a:p>
        </p:txBody>
      </p:sp>
      <p:sp>
        <p:nvSpPr>
          <p:cNvPr id="342" name="Google Shape;342;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0" name="Google Shape;38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0:30–0:40. PerDiemo already turns one sentence into a legal travel claim. Here, we connected it to card payments and gave it an agent that pays out. Stop clicking. Just ask for it.</a:t>
            </a:r>
            <a:endParaRPr/>
          </a:p>
        </p:txBody>
      </p:sp>
      <p:sp>
        <p:nvSpPr>
          <p:cNvPr id="381" name="Google Shape;381;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2"/>
          <p:cNvSpPr/>
          <p:nvPr>
            <p:ph idx="2" type="pic"/>
          </p:nvPr>
        </p:nvSpPr>
        <p:spPr>
          <a:xfrm>
            <a:off x="1792288" y="612775"/>
            <a:ext cx="5486400" cy="4114800"/>
          </a:xfrm>
          <a:prstGeom prst="rect">
            <a:avLst/>
          </a:prstGeom>
          <a:noFill/>
          <a:ln>
            <a:noFill/>
          </a:ln>
        </p:spPr>
      </p:sp>
      <p:sp>
        <p:nvSpPr>
          <p:cNvPr id="64" name="Google Shape;64;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jpg"/><Relationship Id="rId4"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drive.google.com/file/d/1K1Ow2oc50q91IbgTRZZE8iHALvEhpUsA/view" TargetMode="External"/><Relationship Id="rId4"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4.png"/><Relationship Id="rId6"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drive.google.com/file/d/1vjHv-cked-I3XKKGSIPww0_rY-PNu8bX/view" TargetMode="External"/><Relationship Id="rId4"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drive.google.com/file/d/1hoUM_1YnpMe1JCvPrTVICXUUUyfrnI0u/view" TargetMode="External"/><Relationship Id="rId4" Type="http://schemas.openxmlformats.org/officeDocument/2006/relationships/image" Target="../media/image1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20.png"/><Relationship Id="rId5"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jpg"/><Relationship Id="rId4" Type="http://schemas.openxmlformats.org/officeDocument/2006/relationships/image" Target="../media/image23.jpg"/><Relationship Id="rId5" Type="http://schemas.openxmlformats.org/officeDocument/2006/relationships/image" Target="../media/image2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84" name="Shape 84"/>
        <p:cNvGrpSpPr/>
        <p:nvPr/>
      </p:nvGrpSpPr>
      <p:grpSpPr>
        <a:xfrm>
          <a:off x="0" y="0"/>
          <a:ext cx="0" cy="0"/>
          <a:chOff x="0" y="0"/>
          <a:chExt cx="0" cy="0"/>
        </a:xfrm>
      </p:grpSpPr>
      <p:sp>
        <p:nvSpPr>
          <p:cNvPr id="85" name="Google Shape;85;p1"/>
          <p:cNvSpPr txBox="1"/>
          <p:nvPr/>
        </p:nvSpPr>
        <p:spPr>
          <a:xfrm>
            <a:off x="8058150" y="609600"/>
            <a:ext cx="3657600"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50" u="none" cap="none" strike="noStrike">
                <a:solidFill>
                  <a:srgbClr val="A9B0CF"/>
                </a:solidFill>
                <a:latin typeface="Space Grotesk"/>
                <a:ea typeface="Space Grotesk"/>
                <a:cs typeface="Space Grotesk"/>
                <a:sym typeface="Space Grotesk"/>
              </a:rPr>
              <a:t>THE FINTECHERS 2026</a:t>
            </a:r>
            <a:endParaRPr/>
          </a:p>
        </p:txBody>
      </p:sp>
      <p:sp>
        <p:nvSpPr>
          <p:cNvPr id="86" name="Google Shape;86;p1"/>
          <p:cNvSpPr txBox="1"/>
          <p:nvPr/>
        </p:nvSpPr>
        <p:spPr>
          <a:xfrm>
            <a:off x="758952" y="2148840"/>
            <a:ext cx="5852100" cy="153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5000">
                <a:solidFill>
                  <a:srgbClr val="F1F3FA"/>
                </a:solidFill>
                <a:latin typeface="Plus Jakarta Sans"/>
                <a:ea typeface="Plus Jakarta Sans"/>
                <a:cs typeface="Plus Jakarta Sans"/>
                <a:sym typeface="Plus Jakarta Sans"/>
              </a:rPr>
              <a:t>Travel </a:t>
            </a:r>
            <a:r>
              <a:rPr b="1" i="0" lang="en-US" sz="5000" u="none" cap="none" strike="noStrike">
                <a:solidFill>
                  <a:srgbClr val="F1F3FA"/>
                </a:solidFill>
                <a:latin typeface="Plus Jakarta Sans"/>
                <a:ea typeface="Plus Jakarta Sans"/>
                <a:cs typeface="Plus Jakarta Sans"/>
                <a:sym typeface="Plus Jakarta Sans"/>
              </a:rPr>
              <a:t>Expense forms are dead.</a:t>
            </a:r>
            <a:endParaRPr/>
          </a:p>
        </p:txBody>
      </p:sp>
      <p:sp>
        <p:nvSpPr>
          <p:cNvPr id="87" name="Google Shape;87;p1"/>
          <p:cNvSpPr txBox="1"/>
          <p:nvPr/>
        </p:nvSpPr>
        <p:spPr>
          <a:xfrm>
            <a:off x="758952" y="3923913"/>
            <a:ext cx="6583800" cy="292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F2A93B"/>
                </a:solidFill>
                <a:latin typeface="Plus Jakarta Sans"/>
                <a:ea typeface="Plus Jakarta Sans"/>
                <a:cs typeface="Plus Jakarta Sans"/>
                <a:sym typeface="Plus Jakarta Sans"/>
              </a:rPr>
              <a:t>YOUR </a:t>
            </a:r>
            <a:r>
              <a:rPr b="1" i="0" lang="en-US" sz="1900" u="none" cap="none" strike="noStrike">
                <a:solidFill>
                  <a:srgbClr val="F2A93B"/>
                </a:solidFill>
                <a:latin typeface="Plus Jakarta Sans"/>
                <a:ea typeface="Plus Jakarta Sans"/>
                <a:cs typeface="Plus Jakarta Sans"/>
                <a:sym typeface="Plus Jakarta Sans"/>
              </a:rPr>
              <a:t>AGENTIC TRAVEL </a:t>
            </a:r>
            <a:r>
              <a:rPr b="1" lang="en-US" sz="1900">
                <a:solidFill>
                  <a:srgbClr val="F2A93B"/>
                </a:solidFill>
                <a:latin typeface="Plus Jakarta Sans"/>
                <a:ea typeface="Plus Jakarta Sans"/>
                <a:cs typeface="Plus Jakarta Sans"/>
                <a:sym typeface="Plus Jakarta Sans"/>
              </a:rPr>
              <a:t>EXPENSE SAAS</a:t>
            </a:r>
            <a:endParaRPr sz="1900"/>
          </a:p>
        </p:txBody>
      </p:sp>
      <p:sp>
        <p:nvSpPr>
          <p:cNvPr id="88" name="Google Shape;88;p1"/>
          <p:cNvSpPr/>
          <p:nvPr/>
        </p:nvSpPr>
        <p:spPr>
          <a:xfrm>
            <a:off x="7863840" y="1005840"/>
            <a:ext cx="3291840" cy="4892040"/>
          </a:xfrm>
          <a:prstGeom prst="roundRect">
            <a:avLst>
              <a:gd fmla="val 12000" name="adj"/>
            </a:avLst>
          </a:prstGeom>
          <a:solidFill>
            <a:srgbClr val="161C2F"/>
          </a:solidFill>
          <a:ln cap="flat" cmpd="sng" w="19050">
            <a:solidFill>
              <a:srgbClr val="3A43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1"/>
          <p:cNvSpPr/>
          <p:nvPr/>
        </p:nvSpPr>
        <p:spPr>
          <a:xfrm>
            <a:off x="9098280" y="1170432"/>
            <a:ext cx="822960" cy="109728"/>
          </a:xfrm>
          <a:prstGeom prst="roundRect">
            <a:avLst>
              <a:gd fmla="val 50000" name="adj"/>
            </a:avLst>
          </a:prstGeom>
          <a:solidFill>
            <a:srgbClr val="3A436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 name="Google Shape;90;p1"/>
          <p:cNvSpPr txBox="1"/>
          <p:nvPr/>
        </p:nvSpPr>
        <p:spPr>
          <a:xfrm>
            <a:off x="8138160" y="1463040"/>
            <a:ext cx="27432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7C82EE"/>
                </a:solidFill>
                <a:latin typeface="Plus Jakarta Sans"/>
                <a:ea typeface="Plus Jakarta Sans"/>
                <a:cs typeface="Plus Jakarta Sans"/>
                <a:sym typeface="Plus Jakarta Sans"/>
              </a:rPr>
              <a:t>PerDiemo</a:t>
            </a:r>
            <a:r>
              <a:rPr b="0" i="0" lang="en-US" sz="1200">
                <a:solidFill>
                  <a:srgbClr val="A9B0CF"/>
                </a:solidFill>
                <a:latin typeface="Plus Jakarta Sans"/>
                <a:ea typeface="Plus Jakarta Sans"/>
                <a:cs typeface="Plus Jakarta Sans"/>
                <a:sym typeface="Plus Jakarta Sans"/>
              </a:rPr>
              <a:t>  agent</a:t>
            </a:r>
            <a:endParaRPr/>
          </a:p>
        </p:txBody>
      </p:sp>
      <p:sp>
        <p:nvSpPr>
          <p:cNvPr id="91" name="Google Shape;91;p1"/>
          <p:cNvSpPr/>
          <p:nvPr/>
        </p:nvSpPr>
        <p:spPr>
          <a:xfrm>
            <a:off x="8321040" y="1965960"/>
            <a:ext cx="2606040" cy="498983"/>
          </a:xfrm>
          <a:prstGeom prst="roundRect">
            <a:avLst>
              <a:gd fmla="val 30000" name="adj"/>
            </a:avLst>
          </a:prstGeom>
          <a:solidFill>
            <a:srgbClr val="6A70E0"/>
          </a:solidFill>
          <a:ln>
            <a:noFill/>
          </a:ln>
        </p:spPr>
        <p:txBody>
          <a:bodyPr anchorCtr="0" anchor="ctr" bIns="115200" lIns="164575" spcFirstLastPara="1" rIns="164575" wrap="square" tIns="115200">
            <a:noAutofit/>
          </a:bodyPr>
          <a:lstStyle/>
          <a:p>
            <a:pPr indent="0" lvl="0" marL="0" marR="0" rtl="0" algn="l">
              <a:spcBef>
                <a:spcPts val="0"/>
              </a:spcBef>
              <a:spcAft>
                <a:spcPts val="0"/>
              </a:spcAft>
              <a:buNone/>
            </a:pPr>
            <a:r>
              <a:rPr b="0" i="0" lang="en-US" sz="1300">
                <a:solidFill>
                  <a:srgbClr val="FFFFFF"/>
                </a:solidFill>
                <a:latin typeface="Plus Jakarta Sans"/>
                <a:ea typeface="Plus Jakarta Sans"/>
                <a:cs typeface="Plus Jakarta Sans"/>
                <a:sym typeface="Plus Jakarta Sans"/>
              </a:rPr>
              <a:t>Close my trip to Munich.</a:t>
            </a:r>
            <a:endParaRPr/>
          </a:p>
        </p:txBody>
      </p:sp>
      <p:sp>
        <p:nvSpPr>
          <p:cNvPr id="92" name="Google Shape;92;p1"/>
          <p:cNvSpPr/>
          <p:nvPr/>
        </p:nvSpPr>
        <p:spPr>
          <a:xfrm>
            <a:off x="8092440" y="2647823"/>
            <a:ext cx="2606040" cy="864108"/>
          </a:xfrm>
          <a:prstGeom prst="roundRect">
            <a:avLst>
              <a:gd fmla="val 30000" name="adj"/>
            </a:avLst>
          </a:prstGeom>
          <a:solidFill>
            <a:srgbClr val="161C2F"/>
          </a:solidFill>
          <a:ln cap="flat" cmpd="sng" w="9525">
            <a:solidFill>
              <a:srgbClr val="2A3352"/>
            </a:solidFill>
            <a:prstDash val="solid"/>
            <a:round/>
            <a:headEnd len="sm" w="sm" type="none"/>
            <a:tailEnd len="sm" w="sm" type="none"/>
          </a:ln>
        </p:spPr>
        <p:txBody>
          <a:bodyPr anchorCtr="0" anchor="ctr" bIns="115200" lIns="164575" spcFirstLastPara="1" rIns="164575" wrap="square" tIns="115200">
            <a:noAutofit/>
          </a:bodyPr>
          <a:lstStyle/>
          <a:p>
            <a:pPr indent="0" lvl="0" marL="0" marR="0" rtl="0" algn="l">
              <a:spcBef>
                <a:spcPts val="0"/>
              </a:spcBef>
              <a:spcAft>
                <a:spcPts val="0"/>
              </a:spcAft>
              <a:buNone/>
            </a:pPr>
            <a:r>
              <a:rPr b="0" i="0" lang="en-US" sz="1200">
                <a:solidFill>
                  <a:srgbClr val="F1F3FA"/>
                </a:solidFill>
                <a:latin typeface="Plus Jakarta Sans"/>
                <a:ea typeface="Plus Jakarta Sans"/>
                <a:cs typeface="Plus Jakarta Sans"/>
                <a:sym typeface="Plus Jakarta Sans"/>
              </a:rPr>
              <a:t>9 card payments matched. Per diems calculated by the Labour Code.</a:t>
            </a:r>
            <a:endParaRPr/>
          </a:p>
        </p:txBody>
      </p:sp>
      <p:sp>
        <p:nvSpPr>
          <p:cNvPr id="93" name="Google Shape;93;p1"/>
          <p:cNvSpPr/>
          <p:nvPr/>
        </p:nvSpPr>
        <p:spPr>
          <a:xfrm>
            <a:off x="8092440" y="3694810"/>
            <a:ext cx="2606040" cy="673607"/>
          </a:xfrm>
          <a:prstGeom prst="roundRect">
            <a:avLst>
              <a:gd fmla="val 30000" name="adj"/>
            </a:avLst>
          </a:prstGeom>
          <a:solidFill>
            <a:srgbClr val="161C2F"/>
          </a:solidFill>
          <a:ln cap="flat" cmpd="sng" w="9525">
            <a:solidFill>
              <a:srgbClr val="2A3352"/>
            </a:solidFill>
            <a:prstDash val="solid"/>
            <a:round/>
            <a:headEnd len="sm" w="sm" type="none"/>
            <a:tailEnd len="sm" w="sm" type="none"/>
          </a:ln>
        </p:spPr>
        <p:txBody>
          <a:bodyPr anchorCtr="0" anchor="ctr" bIns="115200" lIns="164575" spcFirstLastPara="1" rIns="164575" wrap="square" tIns="115200">
            <a:noAutofit/>
          </a:bodyPr>
          <a:lstStyle/>
          <a:p>
            <a:pPr indent="0" lvl="0" marL="0" marR="0" rtl="0" algn="l">
              <a:spcBef>
                <a:spcPts val="0"/>
              </a:spcBef>
              <a:spcAft>
                <a:spcPts val="0"/>
              </a:spcAft>
              <a:buNone/>
            </a:pPr>
            <a:r>
              <a:rPr b="0" i="0" lang="en-US" sz="1200">
                <a:solidFill>
                  <a:srgbClr val="F1F3FA"/>
                </a:solidFill>
                <a:latin typeface="Plus Jakarta Sans"/>
                <a:ea typeface="Plus Jakarta Sans"/>
                <a:cs typeface="Plus Jakarta Sans"/>
                <a:sym typeface="Plus Jakarta Sans"/>
              </a:rPr>
              <a:t>1 payment is outside the trip dates, so I left it out.</a:t>
            </a:r>
            <a:endParaRPr/>
          </a:p>
        </p:txBody>
      </p:sp>
      <p:sp>
        <p:nvSpPr>
          <p:cNvPr id="94" name="Google Shape;94;p1"/>
          <p:cNvSpPr/>
          <p:nvPr/>
        </p:nvSpPr>
        <p:spPr>
          <a:xfrm>
            <a:off x="8092440" y="4642739"/>
            <a:ext cx="2834640" cy="868680"/>
          </a:xfrm>
          <a:prstGeom prst="roundRect">
            <a:avLst>
              <a:gd fmla="val 6000" name="adj"/>
            </a:avLst>
          </a:prstGeom>
          <a:solidFill>
            <a:srgbClr val="0F2A24"/>
          </a:solidFill>
          <a:ln cap="flat" cmpd="sng" w="9525">
            <a:solidFill>
              <a:srgbClr val="2F8F6E"/>
            </a:solidFill>
            <a:prstDash val="solid"/>
            <a:round/>
            <a:headEnd len="sm" w="sm" type="none"/>
            <a:tailEnd len="sm" w="sm" type="none"/>
          </a:ln>
        </p:spPr>
        <p:txBody>
          <a:bodyPr anchorCtr="0" anchor="ctr" bIns="96000" lIns="137150" spcFirstLastPara="1" rIns="137150" wrap="square" tIns="96000">
            <a:noAutofit/>
          </a:bodyPr>
          <a:lstStyle/>
          <a:p>
            <a:pPr indent="0" lvl="0" marL="0" marR="0" rtl="0" algn="l">
              <a:spcBef>
                <a:spcPts val="0"/>
              </a:spcBef>
              <a:spcAft>
                <a:spcPts val="0"/>
              </a:spcAft>
              <a:buNone/>
            </a:pPr>
            <a:r>
              <a:rPr b="1" i="0" lang="en-US" sz="1400">
                <a:solidFill>
                  <a:srgbClr val="3FC79A"/>
                </a:solidFill>
                <a:latin typeface="Plus Jakarta Sans"/>
                <a:ea typeface="Plus Jakarta Sans"/>
                <a:cs typeface="Plus Jakarta Sans"/>
                <a:sym typeface="Plus Jakarta Sans"/>
              </a:rPr>
              <a:t>✓  </a:t>
            </a:r>
            <a:r>
              <a:rPr b="1" i="0" lang="en-US" sz="1800">
                <a:solidFill>
                  <a:srgbClr val="F1F3FA"/>
                </a:solidFill>
                <a:latin typeface="Plus Jakarta Sans"/>
                <a:ea typeface="Plus Jakarta Sans"/>
                <a:cs typeface="Plus Jakarta Sans"/>
                <a:sym typeface="Plus Jakarta Sans"/>
              </a:rPr>
              <a:t>CZK 7,997.40</a:t>
            </a:r>
            <a:endParaRPr/>
          </a:p>
          <a:p>
            <a:pPr indent="0" lvl="0" marL="0" marR="0" rtl="0" algn="l">
              <a:spcBef>
                <a:spcPts val="0"/>
              </a:spcBef>
              <a:spcAft>
                <a:spcPts val="0"/>
              </a:spcAft>
              <a:buNone/>
            </a:pPr>
            <a:r>
              <a:rPr b="0" i="0" lang="en-US" sz="1100">
                <a:solidFill>
                  <a:srgbClr val="A9B0CF"/>
                </a:solidFill>
                <a:latin typeface="Plus Jakarta Sans"/>
                <a:ea typeface="Plus Jakarta Sans"/>
                <a:cs typeface="Plus Jakarta Sans"/>
                <a:sym typeface="Plus Jakarta Sans"/>
              </a:rPr>
              <a:t>sent to Martin</a:t>
            </a:r>
            <a:endParaRPr/>
          </a:p>
        </p:txBody>
      </p:sp>
      <p:sp>
        <p:nvSpPr>
          <p:cNvPr id="95" name="Google Shape;95;p1"/>
          <p:cNvSpPr txBox="1"/>
          <p:nvPr/>
        </p:nvSpPr>
        <p:spPr>
          <a:xfrm>
            <a:off x="758977" y="455627"/>
            <a:ext cx="5852100" cy="769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5000">
                <a:solidFill>
                  <a:srgbClr val="F1F3FA"/>
                </a:solidFill>
                <a:latin typeface="Plus Jakarta Sans"/>
                <a:ea typeface="Plus Jakarta Sans"/>
                <a:cs typeface="Plus Jakarta Sans"/>
                <a:sym typeface="Plus Jakarta Sans"/>
              </a:rPr>
              <a:t>PERDIEMO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00" name="Shape 100"/>
        <p:cNvGrpSpPr/>
        <p:nvPr/>
      </p:nvGrpSpPr>
      <p:grpSpPr>
        <a:xfrm>
          <a:off x="0" y="0"/>
          <a:ext cx="0" cy="0"/>
          <a:chOff x="0" y="0"/>
          <a:chExt cx="0" cy="0"/>
        </a:xfrm>
      </p:grpSpPr>
      <p:sp>
        <p:nvSpPr>
          <p:cNvPr id="101" name="Google Shape;101;p2"/>
          <p:cNvSpPr txBox="1"/>
          <p:nvPr/>
        </p:nvSpPr>
        <p:spPr>
          <a:xfrm>
            <a:off x="762000" y="1009650"/>
            <a:ext cx="521208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700" u="none">
                <a:solidFill>
                  <a:srgbClr val="F1F3FA"/>
                </a:solidFill>
                <a:latin typeface="Plus Jakarta Sans"/>
                <a:ea typeface="Plus Jakarta Sans"/>
                <a:cs typeface="Plus Jakarta Sans"/>
                <a:sym typeface="Plus Jakarta Sans"/>
              </a:rPr>
              <a:t>Meet Martin. </a:t>
            </a:r>
            <a:r>
              <a:rPr b="1" lang="en-US" sz="2700">
                <a:solidFill>
                  <a:srgbClr val="F1F3FA"/>
                </a:solidFill>
                <a:latin typeface="Plus Jakarta Sans"/>
                <a:ea typeface="Plus Jakarta Sans"/>
                <a:cs typeface="Plus Jakarta Sans"/>
                <a:sym typeface="Plus Jakarta Sans"/>
              </a:rPr>
              <a:t>IT Consultant</a:t>
            </a:r>
            <a:r>
              <a:rPr b="1" i="0" lang="en-US" sz="2700" u="none">
                <a:solidFill>
                  <a:srgbClr val="F1F3FA"/>
                </a:solidFill>
                <a:latin typeface="Plus Jakarta Sans"/>
                <a:ea typeface="Plus Jakarta Sans"/>
                <a:cs typeface="Plus Jakarta Sans"/>
                <a:sym typeface="Plus Jakarta Sans"/>
              </a:rPr>
              <a:t>. </a:t>
            </a:r>
            <a:endParaRPr b="1" i="0" sz="2700" u="none">
              <a:solidFill>
                <a:srgbClr val="F1F3FA"/>
              </a:solidFill>
              <a:latin typeface="Plus Jakarta Sans"/>
              <a:ea typeface="Plus Jakarta Sans"/>
              <a:cs typeface="Plus Jakarta Sans"/>
              <a:sym typeface="Plus Jakarta Sans"/>
            </a:endParaRPr>
          </a:p>
          <a:p>
            <a:pPr indent="0" lvl="0" marL="0" marR="0" rtl="0" algn="l">
              <a:spcBef>
                <a:spcPts val="0"/>
              </a:spcBef>
              <a:spcAft>
                <a:spcPts val="0"/>
              </a:spcAft>
              <a:buNone/>
            </a:pPr>
            <a:r>
              <a:rPr b="1" i="0" lang="en-US" sz="2700" u="none">
                <a:solidFill>
                  <a:srgbClr val="F1F3FA"/>
                </a:solidFill>
                <a:latin typeface="Plus Jakarta Sans"/>
                <a:ea typeface="Plus Jakarta Sans"/>
                <a:cs typeface="Plus Jakarta Sans"/>
                <a:sym typeface="Plus Jakarta Sans"/>
              </a:rPr>
              <a:t>30 business trips a year.</a:t>
            </a:r>
            <a:endParaRPr/>
          </a:p>
        </p:txBody>
      </p:sp>
      <p:pic>
        <p:nvPicPr>
          <p:cNvPr descr="manager.jpg" id="102" name="Google Shape;102;p2"/>
          <p:cNvPicPr preferRelativeResize="0"/>
          <p:nvPr/>
        </p:nvPicPr>
        <p:blipFill rotWithShape="1">
          <a:blip r:embed="rId3">
            <a:alphaModFix/>
          </a:blip>
          <a:srcRect b="4718" l="0" r="0" t="11008"/>
          <a:stretch/>
        </p:blipFill>
        <p:spPr>
          <a:xfrm>
            <a:off x="6843325" y="302825"/>
            <a:ext cx="4946024" cy="6252351"/>
          </a:xfrm>
          <a:prstGeom prst="rect">
            <a:avLst/>
          </a:prstGeom>
          <a:noFill/>
          <a:ln>
            <a:noFill/>
          </a:ln>
        </p:spPr>
      </p:pic>
      <p:sp>
        <p:nvSpPr>
          <p:cNvPr id="103" name="Google Shape;103;p2"/>
          <p:cNvSpPr txBox="1"/>
          <p:nvPr/>
        </p:nvSpPr>
        <p:spPr>
          <a:xfrm>
            <a:off x="6903720" y="6583680"/>
            <a:ext cx="51207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104" name="Google Shape;104;p2"/>
          <p:cNvSpPr/>
          <p:nvPr/>
        </p:nvSpPr>
        <p:spPr>
          <a:xfrm>
            <a:off x="758952" y="2194560"/>
            <a:ext cx="5532120" cy="1078992"/>
          </a:xfrm>
          <a:prstGeom prst="roundRect">
            <a:avLst>
              <a:gd fmla="val 6000" name="adj"/>
            </a:avLst>
          </a:prstGeom>
          <a:solidFill>
            <a:srgbClr val="161C2F"/>
          </a:solidFill>
          <a:ln cap="flat" cmpd="sng" w="9525">
            <a:solidFill>
              <a:srgbClr val="2A33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 name="Google Shape;105;p2"/>
          <p:cNvSpPr/>
          <p:nvPr/>
        </p:nvSpPr>
        <p:spPr>
          <a:xfrm>
            <a:off x="987552" y="2414015"/>
            <a:ext cx="640080" cy="640080"/>
          </a:xfrm>
          <a:prstGeom prst="ellipse">
            <a:avLst/>
          </a:prstGeom>
          <a:solidFill>
            <a:srgbClr val="2A221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receipt.png" id="106" name="Google Shape;106;p2"/>
          <p:cNvPicPr preferRelativeResize="0"/>
          <p:nvPr/>
        </p:nvPicPr>
        <p:blipFill rotWithShape="1">
          <a:blip r:embed="rId4">
            <a:alphaModFix/>
          </a:blip>
          <a:srcRect b="0" l="0" r="0" t="0"/>
          <a:stretch/>
        </p:blipFill>
        <p:spPr>
          <a:xfrm>
            <a:off x="1143000" y="2569464"/>
            <a:ext cx="329184" cy="329184"/>
          </a:xfrm>
          <a:prstGeom prst="rect">
            <a:avLst/>
          </a:prstGeom>
          <a:noFill/>
          <a:ln>
            <a:noFill/>
          </a:ln>
        </p:spPr>
      </p:pic>
      <p:sp>
        <p:nvSpPr>
          <p:cNvPr id="107" name="Google Shape;107;p2"/>
          <p:cNvSpPr txBox="1"/>
          <p:nvPr/>
        </p:nvSpPr>
        <p:spPr>
          <a:xfrm>
            <a:off x="1874519" y="2322576"/>
            <a:ext cx="429768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F1F3FA"/>
                </a:solidFill>
                <a:latin typeface="Plus Jakarta Sans"/>
                <a:ea typeface="Plus Jakarta Sans"/>
                <a:cs typeface="Plus Jakarta Sans"/>
                <a:sym typeface="Plus Jakarta Sans"/>
              </a:rPr>
              <a:t>15</a:t>
            </a:r>
            <a:endParaRPr/>
          </a:p>
        </p:txBody>
      </p:sp>
      <p:sp>
        <p:nvSpPr>
          <p:cNvPr id="108" name="Google Shape;108;p2"/>
          <p:cNvSpPr txBox="1"/>
          <p:nvPr/>
        </p:nvSpPr>
        <p:spPr>
          <a:xfrm>
            <a:off x="1874519" y="2852928"/>
            <a:ext cx="429768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rgbClr val="A9B0CF"/>
                </a:solidFill>
                <a:latin typeface="Plus Jakarta Sans"/>
                <a:ea typeface="Plus Jakarta Sans"/>
                <a:cs typeface="Plus Jakarta Sans"/>
                <a:sym typeface="Plus Jakarta Sans"/>
              </a:rPr>
              <a:t>receipts lost</a:t>
            </a:r>
            <a:endParaRPr/>
          </a:p>
        </p:txBody>
      </p:sp>
      <p:sp>
        <p:nvSpPr>
          <p:cNvPr id="109" name="Google Shape;109;p2"/>
          <p:cNvSpPr/>
          <p:nvPr/>
        </p:nvSpPr>
        <p:spPr>
          <a:xfrm>
            <a:off x="758952" y="3383280"/>
            <a:ext cx="5532120" cy="1078992"/>
          </a:xfrm>
          <a:prstGeom prst="roundRect">
            <a:avLst>
              <a:gd fmla="val 6000" name="adj"/>
            </a:avLst>
          </a:prstGeom>
          <a:solidFill>
            <a:srgbClr val="161C2F"/>
          </a:solidFill>
          <a:ln cap="flat" cmpd="sng" w="9525">
            <a:solidFill>
              <a:srgbClr val="2A33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2"/>
          <p:cNvSpPr/>
          <p:nvPr/>
        </p:nvSpPr>
        <p:spPr>
          <a:xfrm>
            <a:off x="987552" y="3602736"/>
            <a:ext cx="640080" cy="640080"/>
          </a:xfrm>
          <a:prstGeom prst="ellipse">
            <a:avLst/>
          </a:prstGeom>
          <a:solidFill>
            <a:srgbClr val="2A221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clock.png" id="111" name="Google Shape;111;p2"/>
          <p:cNvPicPr preferRelativeResize="0"/>
          <p:nvPr/>
        </p:nvPicPr>
        <p:blipFill rotWithShape="1">
          <a:blip r:embed="rId5">
            <a:alphaModFix/>
          </a:blip>
          <a:srcRect b="0" l="0" r="0" t="0"/>
          <a:stretch/>
        </p:blipFill>
        <p:spPr>
          <a:xfrm>
            <a:off x="1143000" y="3758184"/>
            <a:ext cx="329184" cy="329184"/>
          </a:xfrm>
          <a:prstGeom prst="rect">
            <a:avLst/>
          </a:prstGeom>
          <a:noFill/>
          <a:ln>
            <a:noFill/>
          </a:ln>
        </p:spPr>
      </p:pic>
      <p:sp>
        <p:nvSpPr>
          <p:cNvPr id="112" name="Google Shape;112;p2"/>
          <p:cNvSpPr txBox="1"/>
          <p:nvPr/>
        </p:nvSpPr>
        <p:spPr>
          <a:xfrm>
            <a:off x="1874519" y="3511296"/>
            <a:ext cx="429768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F1F3FA"/>
                </a:solidFill>
                <a:latin typeface="Plus Jakarta Sans"/>
                <a:ea typeface="Plus Jakarta Sans"/>
                <a:cs typeface="Plus Jakarta Sans"/>
                <a:sym typeface="Plus Jakarta Sans"/>
              </a:rPr>
              <a:t>2 days</a:t>
            </a:r>
            <a:endParaRPr/>
          </a:p>
        </p:txBody>
      </p:sp>
      <p:sp>
        <p:nvSpPr>
          <p:cNvPr id="113" name="Google Shape;113;p2"/>
          <p:cNvSpPr txBox="1"/>
          <p:nvPr/>
        </p:nvSpPr>
        <p:spPr>
          <a:xfrm>
            <a:off x="1874519" y="4041648"/>
            <a:ext cx="429768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rgbClr val="A9B0CF"/>
                </a:solidFill>
                <a:latin typeface="Plus Jakarta Sans"/>
                <a:ea typeface="Plus Jakarta Sans"/>
                <a:cs typeface="Plus Jakarta Sans"/>
                <a:sym typeface="Plus Jakarta Sans"/>
              </a:rPr>
              <a:t>of work spent on expense forms</a:t>
            </a:r>
            <a:endParaRPr/>
          </a:p>
        </p:txBody>
      </p:sp>
      <p:sp>
        <p:nvSpPr>
          <p:cNvPr id="114" name="Google Shape;114;p2"/>
          <p:cNvSpPr/>
          <p:nvPr/>
        </p:nvSpPr>
        <p:spPr>
          <a:xfrm>
            <a:off x="758952" y="4572000"/>
            <a:ext cx="5532120" cy="1078992"/>
          </a:xfrm>
          <a:prstGeom prst="roundRect">
            <a:avLst>
              <a:gd fmla="val 6000" name="adj"/>
            </a:avLst>
          </a:prstGeom>
          <a:solidFill>
            <a:srgbClr val="161C2F"/>
          </a:solidFill>
          <a:ln cap="flat" cmpd="sng" w="9525">
            <a:solidFill>
              <a:srgbClr val="2A33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 name="Google Shape;115;p2"/>
          <p:cNvSpPr/>
          <p:nvPr/>
        </p:nvSpPr>
        <p:spPr>
          <a:xfrm>
            <a:off x="987552" y="4791456"/>
            <a:ext cx="640080" cy="640080"/>
          </a:xfrm>
          <a:prstGeom prst="ellipse">
            <a:avLst/>
          </a:prstGeom>
          <a:solidFill>
            <a:srgbClr val="2A221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coins.png" id="116" name="Google Shape;116;p2"/>
          <p:cNvPicPr preferRelativeResize="0"/>
          <p:nvPr/>
        </p:nvPicPr>
        <p:blipFill rotWithShape="1">
          <a:blip r:embed="rId6">
            <a:alphaModFix/>
          </a:blip>
          <a:srcRect b="0" l="0" r="0" t="0"/>
          <a:stretch/>
        </p:blipFill>
        <p:spPr>
          <a:xfrm>
            <a:off x="1143000" y="4946904"/>
            <a:ext cx="329184" cy="329184"/>
          </a:xfrm>
          <a:prstGeom prst="rect">
            <a:avLst/>
          </a:prstGeom>
          <a:noFill/>
          <a:ln>
            <a:noFill/>
          </a:ln>
        </p:spPr>
      </p:pic>
      <p:sp>
        <p:nvSpPr>
          <p:cNvPr id="117" name="Google Shape;117;p2"/>
          <p:cNvSpPr txBox="1"/>
          <p:nvPr/>
        </p:nvSpPr>
        <p:spPr>
          <a:xfrm>
            <a:off x="1874519" y="4700016"/>
            <a:ext cx="429768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F2A93B"/>
                </a:solidFill>
                <a:latin typeface="Plus Jakarta Sans"/>
                <a:ea typeface="Plus Jakarta Sans"/>
                <a:cs typeface="Plus Jakarta Sans"/>
                <a:sym typeface="Plus Jakarta Sans"/>
              </a:rPr>
              <a:t>CZK 24,000</a:t>
            </a:r>
            <a:endParaRPr/>
          </a:p>
        </p:txBody>
      </p:sp>
      <p:sp>
        <p:nvSpPr>
          <p:cNvPr id="118" name="Google Shape;118;p2"/>
          <p:cNvSpPr txBox="1"/>
          <p:nvPr/>
        </p:nvSpPr>
        <p:spPr>
          <a:xfrm>
            <a:off x="1874519" y="5230368"/>
            <a:ext cx="429768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rgbClr val="A9B0CF"/>
                </a:solidFill>
                <a:latin typeface="Plus Jakarta Sans"/>
                <a:ea typeface="Plus Jakarta Sans"/>
                <a:cs typeface="Plus Jakarta Sans"/>
                <a:sym typeface="Plus Jakarta Sans"/>
              </a:rPr>
              <a:t>lost. Half his, half his company's.</a:t>
            </a:r>
            <a:endParaRPr/>
          </a:p>
        </p:txBody>
      </p:sp>
      <p:sp>
        <p:nvSpPr>
          <p:cNvPr id="119" name="Google Shape;119;p2"/>
          <p:cNvSpPr txBox="1"/>
          <p:nvPr/>
        </p:nvSpPr>
        <p:spPr>
          <a:xfrm>
            <a:off x="758952" y="5760720"/>
            <a:ext cx="548640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1" lang="en-US" sz="2200">
                <a:solidFill>
                  <a:srgbClr val="F2A93B"/>
                </a:solidFill>
                <a:latin typeface="Plus Jakarta Sans"/>
                <a:ea typeface="Plus Jakarta Sans"/>
                <a:cs typeface="Plus Jakarta Sans"/>
                <a:sym typeface="Plus Jakarta Sans"/>
              </a:rPr>
              <a:t>Every year.</a:t>
            </a:r>
            <a:endParaRPr/>
          </a:p>
        </p:txBody>
      </p:sp>
      <p:sp>
        <p:nvSpPr>
          <p:cNvPr id="120" name="Google Shape;120;p2"/>
          <p:cNvSpPr txBox="1"/>
          <p:nvPr/>
        </p:nvSpPr>
        <p:spPr>
          <a:xfrm>
            <a:off x="758952" y="6199632"/>
            <a:ext cx="576072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rgbClr val="A9B0CF"/>
                </a:solidFill>
                <a:latin typeface="Plus Jakarta Sans"/>
                <a:ea typeface="Plus Jakarta Sans"/>
                <a:cs typeface="Plus Jakarta Sans"/>
                <a:sym typeface="Plus Jakarta Sans"/>
              </a:rPr>
              <a:t>500 managers like Martin: </a:t>
            </a:r>
            <a:r>
              <a:rPr b="1" i="0" lang="en-US" sz="1400">
                <a:solidFill>
                  <a:srgbClr val="F1F3FA"/>
                </a:solidFill>
                <a:latin typeface="Plus Jakarta Sans"/>
                <a:ea typeface="Plus Jakarta Sans"/>
                <a:cs typeface="Plus Jakarta Sans"/>
                <a:sym typeface="Plus Jakarta Sans"/>
              </a:rPr>
              <a:t>CZK 12 million a year.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25" name="Shape 125"/>
        <p:cNvGrpSpPr/>
        <p:nvPr/>
      </p:nvGrpSpPr>
      <p:grpSpPr>
        <a:xfrm>
          <a:off x="0" y="0"/>
          <a:ext cx="0" cy="0"/>
          <a:chOff x="0" y="0"/>
          <a:chExt cx="0" cy="0"/>
        </a:xfrm>
      </p:grpSpPr>
      <p:sp>
        <p:nvSpPr>
          <p:cNvPr id="126" name="Google Shape;126;h75579fc710a7a87f_0_0"/>
          <p:cNvSpPr txBox="1"/>
          <p:nvPr/>
        </p:nvSpPr>
        <p:spPr>
          <a:xfrm>
            <a:off x="758972" y="566928"/>
            <a:ext cx="5486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a:solidFill>
                  <a:srgbClr val="F2A93B"/>
                </a:solidFill>
                <a:latin typeface="Plus Jakarta Sans"/>
                <a:ea typeface="Plus Jakarta Sans"/>
                <a:cs typeface="Plus Jakarta Sans"/>
                <a:sym typeface="Plus Jakarta Sans"/>
              </a:rPr>
              <a:t>USE CASE 1</a:t>
            </a:r>
            <a:endParaRPr/>
          </a:p>
        </p:txBody>
      </p:sp>
      <p:sp>
        <p:nvSpPr>
          <p:cNvPr id="127" name="Google Shape;127;h75579fc710a7a87f_0_0"/>
          <p:cNvSpPr txBox="1"/>
          <p:nvPr/>
        </p:nvSpPr>
        <p:spPr>
          <a:xfrm>
            <a:off x="6858183" y="566928"/>
            <a:ext cx="4572000" cy="1617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50">
                <a:solidFill>
                  <a:srgbClr val="A9B0CF"/>
                </a:solidFill>
                <a:latin typeface="Plus Jakarta Sans"/>
                <a:ea typeface="Plus Jakarta Sans"/>
                <a:cs typeface="Plus Jakarta Sans"/>
                <a:sym typeface="Plus Jakarta Sans"/>
              </a:rPr>
              <a:t>ENTREPRENEUR</a:t>
            </a:r>
            <a:endParaRPr/>
          </a:p>
        </p:txBody>
      </p:sp>
      <p:sp>
        <p:nvSpPr>
          <p:cNvPr id="128" name="Google Shape;128;h75579fc710a7a87f_0_0"/>
          <p:cNvSpPr txBox="1"/>
          <p:nvPr/>
        </p:nvSpPr>
        <p:spPr>
          <a:xfrm>
            <a:off x="758972" y="960120"/>
            <a:ext cx="106713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a:solidFill>
                  <a:srgbClr val="F1F3FA"/>
                </a:solidFill>
                <a:latin typeface="Plus Jakarta Sans"/>
                <a:ea typeface="Plus Jakarta Sans"/>
                <a:cs typeface="Plus Jakarta Sans"/>
                <a:sym typeface="Plus Jakarta Sans"/>
              </a:rPr>
              <a:t>Entrepreneur: 40 trips a year, zero Excel</a:t>
            </a:r>
            <a:endParaRPr/>
          </a:p>
        </p:txBody>
      </p:sp>
      <p:sp>
        <p:nvSpPr>
          <p:cNvPr id="129" name="Google Shape;129;h75579fc710a7a87f_0_0"/>
          <p:cNvSpPr/>
          <p:nvPr/>
        </p:nvSpPr>
        <p:spPr>
          <a:xfrm>
            <a:off x="758972" y="2057400"/>
            <a:ext cx="3252300" cy="3566100"/>
          </a:xfrm>
          <a:prstGeom prst="roundRect">
            <a:avLst>
              <a:gd fmla="val 6000" name="adj"/>
            </a:avLst>
          </a:prstGeom>
          <a:solidFill>
            <a:srgbClr val="161C2F"/>
          </a:solidFill>
          <a:ln cap="flat" cmpd="sng" w="12700">
            <a:solidFill>
              <a:srgbClr val="2A33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h75579fc710a7a87f_0_0"/>
          <p:cNvSpPr/>
          <p:nvPr/>
        </p:nvSpPr>
        <p:spPr>
          <a:xfrm>
            <a:off x="1033299" y="2331720"/>
            <a:ext cx="567000" cy="567000"/>
          </a:xfrm>
          <a:prstGeom prst="ellipse">
            <a:avLst/>
          </a:prstGeom>
          <a:solidFill>
            <a:srgbClr val="2A221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warn.png" id="131" name="Google Shape;131;h75579fc710a7a87f_0_0"/>
          <p:cNvPicPr preferRelativeResize="0"/>
          <p:nvPr/>
        </p:nvPicPr>
        <p:blipFill rotWithShape="1">
          <a:blip r:embed="rId3">
            <a:alphaModFix/>
          </a:blip>
          <a:srcRect b="0" l="0" r="0" t="0"/>
          <a:stretch/>
        </p:blipFill>
        <p:spPr>
          <a:xfrm>
            <a:off x="1186374" y="2484790"/>
            <a:ext cx="260786" cy="260786"/>
          </a:xfrm>
          <a:prstGeom prst="rect">
            <a:avLst/>
          </a:prstGeom>
          <a:noFill/>
          <a:ln>
            <a:noFill/>
          </a:ln>
        </p:spPr>
      </p:pic>
      <p:sp>
        <p:nvSpPr>
          <p:cNvPr id="132" name="Google Shape;132;h75579fc710a7a87f_0_0"/>
          <p:cNvSpPr txBox="1"/>
          <p:nvPr/>
        </p:nvSpPr>
        <p:spPr>
          <a:xfrm>
            <a:off x="1746551" y="2432304"/>
            <a:ext cx="2063400" cy="2001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300">
                <a:solidFill>
                  <a:srgbClr val="F2A93B"/>
                </a:solidFill>
                <a:latin typeface="Plus Jakarta Sans"/>
                <a:ea typeface="Plus Jakarta Sans"/>
                <a:cs typeface="Plus Jakarta Sans"/>
                <a:sym typeface="Plus Jakarta Sans"/>
              </a:rPr>
              <a:t>PAIN POINT</a:t>
            </a:r>
            <a:endParaRPr/>
          </a:p>
        </p:txBody>
      </p:sp>
      <p:sp>
        <p:nvSpPr>
          <p:cNvPr id="133" name="Google Shape;133;h75579fc710a7a87f_0_0"/>
          <p:cNvSpPr txBox="1"/>
          <p:nvPr/>
        </p:nvSpPr>
        <p:spPr>
          <a:xfrm>
            <a:off x="1051588" y="3200400"/>
            <a:ext cx="2703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F2A93B"/>
                </a:solidFill>
                <a:latin typeface="Plus Jakarta Sans"/>
                <a:ea typeface="Plus Jakarta Sans"/>
                <a:cs typeface="Plus Jakarta Sans"/>
                <a:sym typeface="Plus Jakarta Sans"/>
              </a:rPr>
              <a:t>•  </a:t>
            </a:r>
            <a:r>
              <a:rPr b="0" i="0" lang="en-US" sz="1500">
                <a:solidFill>
                  <a:srgbClr val="F1F3FA"/>
                </a:solidFill>
                <a:latin typeface="Plus Jakarta Sans"/>
                <a:ea typeface="Plus Jakarta Sans"/>
                <a:cs typeface="Plus Jakarta Sans"/>
                <a:sym typeface="Plus Jakarta Sans"/>
              </a:rPr>
              <a:t>3 business trips a month, about 40 a year</a:t>
            </a:r>
            <a:endParaRPr/>
          </a:p>
        </p:txBody>
      </p:sp>
      <p:sp>
        <p:nvSpPr>
          <p:cNvPr id="134" name="Google Shape;134;h75579fc710a7a87f_0_0"/>
          <p:cNvSpPr txBox="1"/>
          <p:nvPr/>
        </p:nvSpPr>
        <p:spPr>
          <a:xfrm>
            <a:off x="1051588" y="3977639"/>
            <a:ext cx="27036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F2A93B"/>
                </a:solidFill>
                <a:latin typeface="Plus Jakarta Sans"/>
                <a:ea typeface="Plus Jakarta Sans"/>
                <a:cs typeface="Plus Jakarta Sans"/>
                <a:sym typeface="Plus Jakarta Sans"/>
              </a:rPr>
              <a:t>•  </a:t>
            </a:r>
            <a:r>
              <a:rPr b="0" i="0" lang="en-US" sz="1500">
                <a:solidFill>
                  <a:srgbClr val="F1F3FA"/>
                </a:solidFill>
                <a:latin typeface="Plus Jakarta Sans"/>
                <a:ea typeface="Plus Jakarta Sans"/>
                <a:cs typeface="Plus Jakarta Sans"/>
                <a:sym typeface="Plus Jakarta Sans"/>
              </a:rPr>
              <a:t>Trips live in the calendar</a:t>
            </a:r>
            <a:endParaRPr/>
          </a:p>
        </p:txBody>
      </p:sp>
      <p:sp>
        <p:nvSpPr>
          <p:cNvPr id="135" name="Google Shape;135;h75579fc710a7a87f_0_0"/>
          <p:cNvSpPr txBox="1"/>
          <p:nvPr/>
        </p:nvSpPr>
        <p:spPr>
          <a:xfrm>
            <a:off x="1051588" y="4754879"/>
            <a:ext cx="27036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F2A93B"/>
                </a:solidFill>
                <a:latin typeface="Plus Jakarta Sans"/>
                <a:ea typeface="Plus Jakarta Sans"/>
                <a:cs typeface="Plus Jakarta Sans"/>
                <a:sym typeface="Plus Jakarta Sans"/>
              </a:rPr>
              <a:t>•  </a:t>
            </a:r>
            <a:r>
              <a:rPr b="0" i="0" lang="en-US" sz="1500">
                <a:solidFill>
                  <a:srgbClr val="F1F3FA"/>
                </a:solidFill>
                <a:latin typeface="Plus Jakarta Sans"/>
                <a:ea typeface="Plus Jakarta Sans"/>
                <a:cs typeface="Plus Jakarta Sans"/>
                <a:sym typeface="Plus Jakarta Sans"/>
              </a:rPr>
              <a:t>Manual Excel after every trip</a:t>
            </a:r>
            <a:endParaRPr/>
          </a:p>
        </p:txBody>
      </p:sp>
      <p:cxnSp>
        <p:nvCxnSpPr>
          <p:cNvPr id="136" name="Google Shape;136;h75579fc710a7a87f_0_0"/>
          <p:cNvCxnSpPr/>
          <p:nvPr/>
        </p:nvCxnSpPr>
        <p:spPr>
          <a:xfrm>
            <a:off x="4084429" y="3840480"/>
            <a:ext cx="310800" cy="0"/>
          </a:xfrm>
          <a:prstGeom prst="straightConnector1">
            <a:avLst/>
          </a:prstGeom>
          <a:noFill/>
          <a:ln cap="flat" cmpd="sng" w="31750">
            <a:solidFill>
              <a:srgbClr val="7C82EE"/>
            </a:solidFill>
            <a:prstDash val="solid"/>
            <a:round/>
            <a:headEnd len="sm" w="sm" type="none"/>
            <a:tailEnd len="med" w="med" type="triangle"/>
          </a:ln>
          <a:effectLst>
            <a:outerShdw blurRad="40000" rotWithShape="0" dir="5400000" dist="20000">
              <a:srgbClr val="000000">
                <a:alpha val="38040"/>
              </a:srgbClr>
            </a:outerShdw>
          </a:effectLst>
        </p:spPr>
      </p:cxnSp>
      <p:sp>
        <p:nvSpPr>
          <p:cNvPr id="137" name="Google Shape;137;h75579fc710a7a87f_0_0"/>
          <p:cNvSpPr/>
          <p:nvPr/>
        </p:nvSpPr>
        <p:spPr>
          <a:xfrm>
            <a:off x="4468487" y="2057400"/>
            <a:ext cx="3252300" cy="3566100"/>
          </a:xfrm>
          <a:prstGeom prst="roundRect">
            <a:avLst>
              <a:gd fmla="val 6000" name="adj"/>
            </a:avLst>
          </a:prstGeom>
          <a:solidFill>
            <a:srgbClr val="1E2463"/>
          </a:solidFill>
          <a:ln cap="flat" cmpd="sng" w="12700">
            <a:solidFill>
              <a:srgbClr val="6A70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h75579fc710a7a87f_0_0"/>
          <p:cNvSpPr/>
          <p:nvPr/>
        </p:nvSpPr>
        <p:spPr>
          <a:xfrm>
            <a:off x="4742814" y="2331720"/>
            <a:ext cx="567000" cy="567000"/>
          </a:xfrm>
          <a:prstGeom prst="ellipse">
            <a:avLst/>
          </a:prstGeom>
          <a:solidFill>
            <a:srgbClr val="6A70E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bolt.png" id="139" name="Google Shape;139;h75579fc710a7a87f_0_0"/>
          <p:cNvPicPr preferRelativeResize="0"/>
          <p:nvPr/>
        </p:nvPicPr>
        <p:blipFill rotWithShape="1">
          <a:blip r:embed="rId4">
            <a:alphaModFix/>
          </a:blip>
          <a:srcRect b="0" l="0" r="0" t="0"/>
          <a:stretch/>
        </p:blipFill>
        <p:spPr>
          <a:xfrm>
            <a:off x="4895889" y="2484790"/>
            <a:ext cx="260786" cy="260786"/>
          </a:xfrm>
          <a:prstGeom prst="rect">
            <a:avLst/>
          </a:prstGeom>
          <a:noFill/>
          <a:ln>
            <a:noFill/>
          </a:ln>
        </p:spPr>
      </p:pic>
      <p:sp>
        <p:nvSpPr>
          <p:cNvPr id="140" name="Google Shape;140;h75579fc710a7a87f_0_0"/>
          <p:cNvSpPr txBox="1"/>
          <p:nvPr/>
        </p:nvSpPr>
        <p:spPr>
          <a:xfrm>
            <a:off x="5456065" y="2432304"/>
            <a:ext cx="2063400" cy="2001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300">
                <a:solidFill>
                  <a:srgbClr val="7C82EE"/>
                </a:solidFill>
                <a:latin typeface="Plus Jakarta Sans"/>
                <a:ea typeface="Plus Jakarta Sans"/>
                <a:cs typeface="Plus Jakarta Sans"/>
                <a:sym typeface="Plus Jakarta Sans"/>
              </a:rPr>
              <a:t>SOLUTION</a:t>
            </a:r>
            <a:endParaRPr/>
          </a:p>
        </p:txBody>
      </p:sp>
      <p:sp>
        <p:nvSpPr>
          <p:cNvPr id="141" name="Google Shape;141;h75579fc710a7a87f_0_0"/>
          <p:cNvSpPr txBox="1"/>
          <p:nvPr/>
        </p:nvSpPr>
        <p:spPr>
          <a:xfrm>
            <a:off x="4761103" y="3200400"/>
            <a:ext cx="2703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7C82EE"/>
                </a:solidFill>
                <a:latin typeface="Plus Jakarta Sans"/>
                <a:ea typeface="Plus Jakarta Sans"/>
                <a:cs typeface="Plus Jakarta Sans"/>
                <a:sym typeface="Plus Jakarta Sans"/>
              </a:rPr>
              <a:t>•  </a:t>
            </a:r>
            <a:r>
              <a:rPr b="0" i="0" lang="en-US" sz="1500">
                <a:solidFill>
                  <a:srgbClr val="F1F3FA"/>
                </a:solidFill>
                <a:latin typeface="Plus Jakarta Sans"/>
                <a:ea typeface="Plus Jakarta Sans"/>
                <a:cs typeface="Plus Jakarta Sans"/>
                <a:sym typeface="Plus Jakarta Sans"/>
              </a:rPr>
              <a:t>PerDiemo </a:t>
            </a:r>
            <a:r>
              <a:rPr lang="en-US" sz="1500">
                <a:solidFill>
                  <a:srgbClr val="F1F3FA"/>
                </a:solidFill>
                <a:latin typeface="Plus Jakarta Sans"/>
                <a:ea typeface="Plus Jakarta Sans"/>
                <a:cs typeface="Plus Jakarta Sans"/>
                <a:sym typeface="Plus Jakarta Sans"/>
              </a:rPr>
              <a:t>uses AI model to parse  </a:t>
            </a:r>
            <a:r>
              <a:rPr b="0" i="0" lang="en-US" sz="1500">
                <a:solidFill>
                  <a:srgbClr val="F1F3FA"/>
                </a:solidFill>
                <a:latin typeface="Plus Jakarta Sans"/>
                <a:ea typeface="Plus Jakarta Sans"/>
                <a:cs typeface="Plus Jakarta Sans"/>
                <a:sym typeface="Plus Jakarta Sans"/>
              </a:rPr>
              <a:t>plain-language input</a:t>
            </a:r>
            <a:endParaRPr/>
          </a:p>
        </p:txBody>
      </p:sp>
      <p:sp>
        <p:nvSpPr>
          <p:cNvPr id="142" name="Google Shape;142;h75579fc710a7a87f_0_0"/>
          <p:cNvSpPr txBox="1"/>
          <p:nvPr/>
        </p:nvSpPr>
        <p:spPr>
          <a:xfrm>
            <a:off x="4761103" y="3977639"/>
            <a:ext cx="2703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7C82EE"/>
                </a:solidFill>
                <a:latin typeface="Plus Jakarta Sans"/>
                <a:ea typeface="Plus Jakarta Sans"/>
                <a:cs typeface="Plus Jakarta Sans"/>
                <a:sym typeface="Plus Jakarta Sans"/>
              </a:rPr>
              <a:t>•  </a:t>
            </a:r>
            <a:r>
              <a:rPr b="0" i="0" lang="en-US" sz="1500">
                <a:solidFill>
                  <a:srgbClr val="F1F3FA"/>
                </a:solidFill>
                <a:latin typeface="Plus Jakarta Sans"/>
                <a:ea typeface="Plus Jakarta Sans"/>
                <a:cs typeface="Plus Jakarta Sans"/>
                <a:sym typeface="Plus Jakarta Sans"/>
              </a:rPr>
              <a:t>Trip description becomes a legally compliant PDF or Excel</a:t>
            </a:r>
            <a:endParaRPr/>
          </a:p>
        </p:txBody>
      </p:sp>
      <p:cxnSp>
        <p:nvCxnSpPr>
          <p:cNvPr id="143" name="Google Shape;143;h75579fc710a7a87f_0_0"/>
          <p:cNvCxnSpPr/>
          <p:nvPr/>
        </p:nvCxnSpPr>
        <p:spPr>
          <a:xfrm>
            <a:off x="7793944" y="3840480"/>
            <a:ext cx="310800" cy="0"/>
          </a:xfrm>
          <a:prstGeom prst="straightConnector1">
            <a:avLst/>
          </a:prstGeom>
          <a:noFill/>
          <a:ln cap="flat" cmpd="sng" w="31750">
            <a:solidFill>
              <a:srgbClr val="7C82EE"/>
            </a:solidFill>
            <a:prstDash val="solid"/>
            <a:round/>
            <a:headEnd len="sm" w="sm" type="none"/>
            <a:tailEnd len="med" w="med" type="triangle"/>
          </a:ln>
          <a:effectLst>
            <a:outerShdw blurRad="40000" rotWithShape="0" dir="5400000" dist="20000">
              <a:srgbClr val="000000">
                <a:alpha val="38040"/>
              </a:srgbClr>
            </a:outerShdw>
          </a:effectLst>
        </p:spPr>
      </p:cxnSp>
      <p:sp>
        <p:nvSpPr>
          <p:cNvPr id="144" name="Google Shape;144;h75579fc710a7a87f_0_0"/>
          <p:cNvSpPr/>
          <p:nvPr/>
        </p:nvSpPr>
        <p:spPr>
          <a:xfrm>
            <a:off x="8178002" y="2057400"/>
            <a:ext cx="3252300" cy="3566100"/>
          </a:xfrm>
          <a:prstGeom prst="roundRect">
            <a:avLst>
              <a:gd fmla="val 6000" name="adj"/>
            </a:avLst>
          </a:prstGeom>
          <a:solidFill>
            <a:srgbClr val="0F2A24"/>
          </a:solidFill>
          <a:ln cap="flat" cmpd="sng" w="12700">
            <a:solidFill>
              <a:srgbClr val="2F8F6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 name="Google Shape;145;h75579fc710a7a87f_0_0"/>
          <p:cNvSpPr/>
          <p:nvPr/>
        </p:nvSpPr>
        <p:spPr>
          <a:xfrm>
            <a:off x="8452329" y="2331720"/>
            <a:ext cx="567000" cy="567000"/>
          </a:xfrm>
          <a:prstGeom prst="ellipse">
            <a:avLst/>
          </a:prstGeom>
          <a:solidFill>
            <a:srgbClr val="3FC79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check.png" id="146" name="Google Shape;146;h75579fc710a7a87f_0_0"/>
          <p:cNvPicPr preferRelativeResize="0"/>
          <p:nvPr/>
        </p:nvPicPr>
        <p:blipFill rotWithShape="1">
          <a:blip r:embed="rId5">
            <a:alphaModFix/>
          </a:blip>
          <a:srcRect b="0" l="0" r="0" t="0"/>
          <a:stretch/>
        </p:blipFill>
        <p:spPr>
          <a:xfrm>
            <a:off x="8605403" y="2484790"/>
            <a:ext cx="260786" cy="260786"/>
          </a:xfrm>
          <a:prstGeom prst="rect">
            <a:avLst/>
          </a:prstGeom>
          <a:noFill/>
          <a:ln>
            <a:noFill/>
          </a:ln>
        </p:spPr>
      </p:pic>
      <p:sp>
        <p:nvSpPr>
          <p:cNvPr id="147" name="Google Shape;147;h75579fc710a7a87f_0_0"/>
          <p:cNvSpPr txBox="1"/>
          <p:nvPr/>
        </p:nvSpPr>
        <p:spPr>
          <a:xfrm>
            <a:off x="9165580" y="2432304"/>
            <a:ext cx="2063400" cy="2001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300">
                <a:solidFill>
                  <a:srgbClr val="3FC79A"/>
                </a:solidFill>
                <a:latin typeface="Plus Jakarta Sans"/>
                <a:ea typeface="Plus Jakarta Sans"/>
                <a:cs typeface="Plus Jakarta Sans"/>
                <a:sym typeface="Plus Jakarta Sans"/>
              </a:rPr>
              <a:t>BENEFIT</a:t>
            </a:r>
            <a:endParaRPr/>
          </a:p>
        </p:txBody>
      </p:sp>
      <p:sp>
        <p:nvSpPr>
          <p:cNvPr id="148" name="Google Shape;148;h75579fc710a7a87f_0_0"/>
          <p:cNvSpPr txBox="1"/>
          <p:nvPr/>
        </p:nvSpPr>
        <p:spPr>
          <a:xfrm>
            <a:off x="8470618" y="3200400"/>
            <a:ext cx="2703600" cy="115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3FC79A"/>
                </a:solidFill>
                <a:latin typeface="Plus Jakarta Sans"/>
                <a:ea typeface="Plus Jakarta Sans"/>
                <a:cs typeface="Plus Jakarta Sans"/>
                <a:sym typeface="Plus Jakarta Sans"/>
              </a:rPr>
              <a:t>•  </a:t>
            </a:r>
            <a:r>
              <a:rPr b="0" i="0" lang="en-US" sz="1500">
                <a:solidFill>
                  <a:srgbClr val="F1F3FA"/>
                </a:solidFill>
                <a:latin typeface="Plus Jakarta Sans"/>
                <a:ea typeface="Plus Jakarta Sans"/>
                <a:cs typeface="Plus Jakarta Sans"/>
                <a:sym typeface="Plus Jakarta Sans"/>
              </a:rPr>
              <a:t>Hours of valuable time saved</a:t>
            </a:r>
            <a:endParaRPr b="0" i="0" sz="1500">
              <a:solidFill>
                <a:srgbClr val="F1F3FA"/>
              </a:solidFill>
              <a:latin typeface="Plus Jakarta Sans"/>
              <a:ea typeface="Plus Jakarta Sans"/>
              <a:cs typeface="Plus Jakarta Sans"/>
              <a:sym typeface="Plus Jakarta Sans"/>
            </a:endParaRPr>
          </a:p>
          <a:p>
            <a:pPr indent="0" lvl="0" marL="0" marR="0" rtl="0" algn="l">
              <a:spcBef>
                <a:spcPts val="0"/>
              </a:spcBef>
              <a:spcAft>
                <a:spcPts val="0"/>
              </a:spcAft>
              <a:buNone/>
            </a:pPr>
            <a:r>
              <a:t/>
            </a:r>
            <a:endParaRPr sz="1500">
              <a:solidFill>
                <a:srgbClr val="F1F3FA"/>
              </a:solidFill>
              <a:latin typeface="Plus Jakarta Sans"/>
              <a:ea typeface="Plus Jakarta Sans"/>
              <a:cs typeface="Plus Jakarta Sans"/>
              <a:sym typeface="Plus Jakarta Sans"/>
            </a:endParaRPr>
          </a:p>
          <a:p>
            <a:pPr indent="0" lvl="0" marL="0" rtl="0" algn="l">
              <a:spcBef>
                <a:spcPts val="0"/>
              </a:spcBef>
              <a:spcAft>
                <a:spcPts val="0"/>
              </a:spcAft>
              <a:buClr>
                <a:schemeClr val="dk1"/>
              </a:buClr>
              <a:buFont typeface="Arial"/>
              <a:buNone/>
            </a:pPr>
            <a:r>
              <a:rPr b="1" lang="en-US" sz="1500">
                <a:solidFill>
                  <a:srgbClr val="3FC79A"/>
                </a:solidFill>
                <a:latin typeface="Plus Jakarta Sans"/>
                <a:ea typeface="Plus Jakarta Sans"/>
                <a:cs typeface="Plus Jakarta Sans"/>
                <a:sym typeface="Plus Jakarta Sans"/>
              </a:rPr>
              <a:t>•  </a:t>
            </a:r>
            <a:r>
              <a:rPr lang="en-US" sz="1500">
                <a:solidFill>
                  <a:srgbClr val="F1F3FA"/>
                </a:solidFill>
                <a:latin typeface="Plus Jakarta Sans"/>
                <a:ea typeface="Plus Jakarta Sans"/>
                <a:cs typeface="Plus Jakarta Sans"/>
                <a:sym typeface="Plus Jakarta Sans"/>
              </a:rPr>
              <a:t>Business trip complied with legislation</a:t>
            </a:r>
            <a:endParaRPr sz="1500">
              <a:solidFill>
                <a:srgbClr val="F1F3FA"/>
              </a:solidFill>
              <a:latin typeface="Plus Jakarta Sans"/>
              <a:ea typeface="Plus Jakarta Sans"/>
              <a:cs typeface="Plus Jakarta Sans"/>
              <a:sym typeface="Plus Jakart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53" name="Shape 153"/>
        <p:cNvGrpSpPr/>
        <p:nvPr/>
      </p:nvGrpSpPr>
      <p:grpSpPr>
        <a:xfrm>
          <a:off x="0" y="0"/>
          <a:ext cx="0" cy="0"/>
          <a:chOff x="0" y="0"/>
          <a:chExt cx="0" cy="0"/>
        </a:xfrm>
      </p:grpSpPr>
      <p:sp>
        <p:nvSpPr>
          <p:cNvPr id="154" name="Google Shape;154;h18d92c90695434c9_2_1"/>
          <p:cNvSpPr txBox="1"/>
          <p:nvPr/>
        </p:nvSpPr>
        <p:spPr>
          <a:xfrm>
            <a:off x="758972" y="566928"/>
            <a:ext cx="5486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a:solidFill>
                  <a:srgbClr val="F2A93B"/>
                </a:solidFill>
                <a:latin typeface="Plus Jakarta Sans"/>
                <a:ea typeface="Plus Jakarta Sans"/>
                <a:cs typeface="Plus Jakarta Sans"/>
                <a:sym typeface="Plus Jakarta Sans"/>
              </a:rPr>
              <a:t>USE CASE 1</a:t>
            </a:r>
            <a:endParaRPr/>
          </a:p>
        </p:txBody>
      </p:sp>
      <p:sp>
        <p:nvSpPr>
          <p:cNvPr id="155" name="Google Shape;155;h18d92c90695434c9_2_1"/>
          <p:cNvSpPr txBox="1"/>
          <p:nvPr/>
        </p:nvSpPr>
        <p:spPr>
          <a:xfrm>
            <a:off x="6858183" y="566928"/>
            <a:ext cx="4572000" cy="1617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50">
                <a:solidFill>
                  <a:srgbClr val="A9B0CF"/>
                </a:solidFill>
                <a:latin typeface="Plus Jakarta Sans"/>
                <a:ea typeface="Plus Jakarta Sans"/>
                <a:cs typeface="Plus Jakarta Sans"/>
                <a:sym typeface="Plus Jakarta Sans"/>
              </a:rPr>
              <a:t>ENTREPRENEUR</a:t>
            </a:r>
            <a:endParaRPr/>
          </a:p>
        </p:txBody>
      </p:sp>
      <p:pic>
        <p:nvPicPr>
          <p:cNvPr id="156" name="Google Shape;156;h18d92c90695434c9_2_1" title="001 Use Case One - PerDiemo Intelligence Demo - recording_9sPvbgLW4CdpXgRNODKo-1.mp4">
            <a:hlinkClick r:id="rId3"/>
          </p:cNvPr>
          <p:cNvPicPr preferRelativeResize="0"/>
          <p:nvPr/>
        </p:nvPicPr>
        <p:blipFill>
          <a:blip r:embed="rId4">
            <a:alphaModFix/>
          </a:blip>
          <a:stretch>
            <a:fillRect/>
          </a:stretch>
        </p:blipFill>
        <p:spPr>
          <a:xfrm>
            <a:off x="1021425" y="871300"/>
            <a:ext cx="10457750" cy="58824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1000"/>
                                        <p:tgtEl>
                                          <p:spTgt spid="1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B1220"/>
        </a:solidFill>
      </p:bgPr>
    </p:bg>
    <p:spTree>
      <p:nvGrpSpPr>
        <p:cNvPr id="161" name="Shape 161"/>
        <p:cNvGrpSpPr/>
        <p:nvPr/>
      </p:nvGrpSpPr>
      <p:grpSpPr>
        <a:xfrm>
          <a:off x="0" y="0"/>
          <a:ext cx="0" cy="0"/>
          <a:chOff x="0" y="0"/>
          <a:chExt cx="0" cy="0"/>
        </a:xfrm>
      </p:grpSpPr>
      <p:sp>
        <p:nvSpPr>
          <p:cNvPr id="162" name="Google Shape;162;h18d92c90695434c9_0_0"/>
          <p:cNvSpPr txBox="1"/>
          <p:nvPr/>
        </p:nvSpPr>
        <p:spPr>
          <a:xfrm>
            <a:off x="762000" y="1009650"/>
            <a:ext cx="10607100" cy="42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700" u="none">
                <a:solidFill>
                  <a:srgbClr val="F1F3FA"/>
                </a:solidFill>
                <a:latin typeface="Plus Jakarta Sans"/>
                <a:ea typeface="Plus Jakarta Sans"/>
                <a:cs typeface="Plus Jakarta Sans"/>
                <a:sym typeface="Plus Jakarta Sans"/>
              </a:rPr>
              <a:t>Live demo: from one message to the payout</a:t>
            </a:r>
            <a:endParaRPr/>
          </a:p>
        </p:txBody>
      </p:sp>
      <p:sp>
        <p:nvSpPr>
          <p:cNvPr id="163" name="Google Shape;163;h18d92c90695434c9_0_0"/>
          <p:cNvSpPr txBox="1"/>
          <p:nvPr/>
        </p:nvSpPr>
        <p:spPr>
          <a:xfrm>
            <a:off x="762000" y="609600"/>
            <a:ext cx="45720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a:solidFill>
                  <a:srgbClr val="F2A93B"/>
                </a:solidFill>
                <a:latin typeface="Space Grotesk"/>
                <a:ea typeface="Space Grotesk"/>
                <a:cs typeface="Space Grotesk"/>
                <a:sym typeface="Space Grotesk"/>
              </a:rPr>
              <a:t>SLIDE 05 / 12 • LIVE DEMO</a:t>
            </a:r>
            <a:endParaRPr/>
          </a:p>
        </p:txBody>
      </p:sp>
      <p:sp>
        <p:nvSpPr>
          <p:cNvPr id="164" name="Google Shape;164;h18d92c90695434c9_0_0"/>
          <p:cNvSpPr txBox="1"/>
          <p:nvPr/>
        </p:nvSpPr>
        <p:spPr>
          <a:xfrm>
            <a:off x="8093868" y="609600"/>
            <a:ext cx="3657600" cy="1617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50" u="none">
                <a:solidFill>
                  <a:srgbClr val="A9B0CF"/>
                </a:solidFill>
                <a:latin typeface="Space Grotesk"/>
                <a:ea typeface="Space Grotesk"/>
                <a:cs typeface="Space Grotesk"/>
                <a:sym typeface="Space Grotesk"/>
              </a:rPr>
              <a:t>SHOW, DON'T TELL</a:t>
            </a:r>
            <a:endParaRPr/>
          </a:p>
        </p:txBody>
      </p:sp>
      <p:sp>
        <p:nvSpPr>
          <p:cNvPr id="165" name="Google Shape;165;h18d92c90695434c9_0_0"/>
          <p:cNvSpPr/>
          <p:nvPr/>
        </p:nvSpPr>
        <p:spPr>
          <a:xfrm>
            <a:off x="758952" y="1828800"/>
            <a:ext cx="6035100" cy="3931800"/>
          </a:xfrm>
          <a:prstGeom prst="roundRect">
            <a:avLst>
              <a:gd fmla="val 6000" name="adj"/>
            </a:avLst>
          </a:prstGeom>
          <a:solidFill>
            <a:srgbClr val="161C2F"/>
          </a:solidFill>
          <a:ln cap="flat" cmpd="sng" w="9525">
            <a:solidFill>
              <a:srgbClr val="2A33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c5cd34675dfac7a9e6688b3dfdfd1e5c.png" id="166" name="Google Shape;166;h18d92c90695434c9_0_0"/>
          <p:cNvPicPr preferRelativeResize="0"/>
          <p:nvPr/>
        </p:nvPicPr>
        <p:blipFill rotWithShape="1">
          <a:blip r:embed="rId3">
            <a:alphaModFix/>
          </a:blip>
          <a:srcRect b="0" l="0" r="0" t="0"/>
          <a:stretch/>
        </p:blipFill>
        <p:spPr>
          <a:xfrm>
            <a:off x="914400" y="1984248"/>
            <a:ext cx="5724146" cy="3100283"/>
          </a:xfrm>
          <a:prstGeom prst="rect">
            <a:avLst/>
          </a:prstGeom>
          <a:noFill/>
          <a:ln>
            <a:noFill/>
          </a:ln>
        </p:spPr>
      </p:pic>
      <p:sp>
        <p:nvSpPr>
          <p:cNvPr id="167" name="Google Shape;167;h18d92c90695434c9_0_0"/>
          <p:cNvSpPr/>
          <p:nvPr/>
        </p:nvSpPr>
        <p:spPr>
          <a:xfrm>
            <a:off x="7178040" y="1828800"/>
            <a:ext cx="384000" cy="384000"/>
          </a:xfrm>
          <a:prstGeom prst="ellipse">
            <a:avLst/>
          </a:prstGeom>
          <a:solidFill>
            <a:srgbClr val="7C82EE"/>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300">
                <a:solidFill>
                  <a:srgbClr val="FFFFFF"/>
                </a:solidFill>
                <a:latin typeface="Plus Jakarta Sans"/>
                <a:ea typeface="Plus Jakarta Sans"/>
                <a:cs typeface="Plus Jakarta Sans"/>
                <a:sym typeface="Plus Jakarta Sans"/>
              </a:rPr>
              <a:t>1</a:t>
            </a:r>
            <a:endParaRPr/>
          </a:p>
        </p:txBody>
      </p:sp>
      <p:sp>
        <p:nvSpPr>
          <p:cNvPr id="168" name="Google Shape;168;h18d92c90695434c9_0_0"/>
          <p:cNvSpPr txBox="1"/>
          <p:nvPr/>
        </p:nvSpPr>
        <p:spPr>
          <a:xfrm>
            <a:off x="7726679" y="1865376"/>
            <a:ext cx="37491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rgbClr val="F1F3FA"/>
                </a:solidFill>
                <a:latin typeface="Plus Jakarta Sans"/>
                <a:ea typeface="Plus Jakarta Sans"/>
                <a:cs typeface="Plus Jakarta Sans"/>
                <a:sym typeface="Plus Jakarta Sans"/>
              </a:rPr>
              <a:t>Ask in chat: "Close my trip to Munich"</a:t>
            </a:r>
            <a:endParaRPr/>
          </a:p>
        </p:txBody>
      </p:sp>
      <p:sp>
        <p:nvSpPr>
          <p:cNvPr id="169" name="Google Shape;169;h18d92c90695434c9_0_0"/>
          <p:cNvSpPr/>
          <p:nvPr/>
        </p:nvSpPr>
        <p:spPr>
          <a:xfrm>
            <a:off x="7178040" y="2432304"/>
            <a:ext cx="384000" cy="384000"/>
          </a:xfrm>
          <a:prstGeom prst="ellipse">
            <a:avLst/>
          </a:prstGeom>
          <a:solidFill>
            <a:srgbClr val="7C82EE"/>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300">
                <a:solidFill>
                  <a:srgbClr val="FFFFFF"/>
                </a:solidFill>
                <a:latin typeface="Plus Jakarta Sans"/>
                <a:ea typeface="Plus Jakarta Sans"/>
                <a:cs typeface="Plus Jakarta Sans"/>
                <a:sym typeface="Plus Jakarta Sans"/>
              </a:rPr>
              <a:t>2</a:t>
            </a:r>
            <a:endParaRPr/>
          </a:p>
        </p:txBody>
      </p:sp>
      <p:sp>
        <p:nvSpPr>
          <p:cNvPr id="170" name="Google Shape;170;h18d92c90695434c9_0_0"/>
          <p:cNvSpPr txBox="1"/>
          <p:nvPr/>
        </p:nvSpPr>
        <p:spPr>
          <a:xfrm>
            <a:off x="7726679" y="2468880"/>
            <a:ext cx="37491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rgbClr val="F1F3FA"/>
                </a:solidFill>
                <a:latin typeface="Plus Jakarta Sans"/>
                <a:ea typeface="Plus Jakarta Sans"/>
                <a:cs typeface="Plus Jakarta Sans"/>
                <a:sym typeface="Plus Jakarta Sans"/>
              </a:rPr>
              <a:t>Card payments matched to the trip</a:t>
            </a:r>
            <a:endParaRPr/>
          </a:p>
        </p:txBody>
      </p:sp>
      <p:sp>
        <p:nvSpPr>
          <p:cNvPr id="171" name="Google Shape;171;h18d92c90695434c9_0_0"/>
          <p:cNvSpPr/>
          <p:nvPr/>
        </p:nvSpPr>
        <p:spPr>
          <a:xfrm>
            <a:off x="7178040" y="3035808"/>
            <a:ext cx="384000" cy="384000"/>
          </a:xfrm>
          <a:prstGeom prst="ellipse">
            <a:avLst/>
          </a:prstGeom>
          <a:solidFill>
            <a:srgbClr val="7C82EE"/>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300">
                <a:solidFill>
                  <a:srgbClr val="FFFFFF"/>
                </a:solidFill>
                <a:latin typeface="Plus Jakarta Sans"/>
                <a:ea typeface="Plus Jakarta Sans"/>
                <a:cs typeface="Plus Jakarta Sans"/>
                <a:sym typeface="Plus Jakarta Sans"/>
              </a:rPr>
              <a:t>3</a:t>
            </a:r>
            <a:endParaRPr/>
          </a:p>
        </p:txBody>
      </p:sp>
      <p:sp>
        <p:nvSpPr>
          <p:cNvPr id="172" name="Google Shape;172;h18d92c90695434c9_0_0"/>
          <p:cNvSpPr txBox="1"/>
          <p:nvPr/>
        </p:nvSpPr>
        <p:spPr>
          <a:xfrm>
            <a:off x="7726679" y="3072384"/>
            <a:ext cx="37491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rgbClr val="F1F3FA"/>
                </a:solidFill>
                <a:latin typeface="Plus Jakarta Sans"/>
                <a:ea typeface="Plus Jakarta Sans"/>
                <a:cs typeface="Plus Jakarta Sans"/>
                <a:sym typeface="Plus Jakarta Sans"/>
              </a:rPr>
              <a:t>Compliance check: 8 passed, 1 flagged</a:t>
            </a:r>
            <a:endParaRPr/>
          </a:p>
        </p:txBody>
      </p:sp>
      <p:sp>
        <p:nvSpPr>
          <p:cNvPr id="173" name="Google Shape;173;h18d92c90695434c9_0_0"/>
          <p:cNvSpPr/>
          <p:nvPr/>
        </p:nvSpPr>
        <p:spPr>
          <a:xfrm>
            <a:off x="7178040" y="3639312"/>
            <a:ext cx="384000" cy="384000"/>
          </a:xfrm>
          <a:prstGeom prst="ellipse">
            <a:avLst/>
          </a:prstGeom>
          <a:solidFill>
            <a:srgbClr val="7C82EE"/>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300">
                <a:solidFill>
                  <a:srgbClr val="FFFFFF"/>
                </a:solidFill>
                <a:latin typeface="Plus Jakarta Sans"/>
                <a:ea typeface="Plus Jakarta Sans"/>
                <a:cs typeface="Plus Jakarta Sans"/>
                <a:sym typeface="Plus Jakarta Sans"/>
              </a:rPr>
              <a:t>4</a:t>
            </a:r>
            <a:endParaRPr/>
          </a:p>
        </p:txBody>
      </p:sp>
      <p:sp>
        <p:nvSpPr>
          <p:cNvPr id="174" name="Google Shape;174;h18d92c90695434c9_0_0"/>
          <p:cNvSpPr txBox="1"/>
          <p:nvPr/>
        </p:nvSpPr>
        <p:spPr>
          <a:xfrm>
            <a:off x="7726679" y="3675888"/>
            <a:ext cx="37491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rgbClr val="F1F3FA"/>
                </a:solidFill>
                <a:latin typeface="Plus Jakarta Sans"/>
                <a:ea typeface="Plus Jakarta Sans"/>
                <a:cs typeface="Plus Jakarta Sans"/>
                <a:sym typeface="Plus Jakarta Sans"/>
              </a:rPr>
              <a:t>"Why only 8 of 9?" The agent explains the rule</a:t>
            </a:r>
            <a:endParaRPr/>
          </a:p>
        </p:txBody>
      </p:sp>
      <p:sp>
        <p:nvSpPr>
          <p:cNvPr id="175" name="Google Shape;175;h18d92c90695434c9_0_0"/>
          <p:cNvSpPr/>
          <p:nvPr/>
        </p:nvSpPr>
        <p:spPr>
          <a:xfrm>
            <a:off x="7178040" y="4242816"/>
            <a:ext cx="384000" cy="384000"/>
          </a:xfrm>
          <a:prstGeom prst="ellipse">
            <a:avLst/>
          </a:prstGeom>
          <a:solidFill>
            <a:srgbClr val="7C82EE"/>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300">
                <a:solidFill>
                  <a:srgbClr val="FFFFFF"/>
                </a:solidFill>
                <a:latin typeface="Plus Jakarta Sans"/>
                <a:ea typeface="Plus Jakarta Sans"/>
                <a:cs typeface="Plus Jakarta Sans"/>
                <a:sym typeface="Plus Jakarta Sans"/>
              </a:rPr>
              <a:t>5</a:t>
            </a:r>
            <a:endParaRPr/>
          </a:p>
        </p:txBody>
      </p:sp>
      <p:sp>
        <p:nvSpPr>
          <p:cNvPr id="176" name="Google Shape;176;h18d92c90695434c9_0_0"/>
          <p:cNvSpPr txBox="1"/>
          <p:nvPr/>
        </p:nvSpPr>
        <p:spPr>
          <a:xfrm>
            <a:off x="7726679" y="4279392"/>
            <a:ext cx="37491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rgbClr val="F1F3FA"/>
                </a:solidFill>
                <a:latin typeface="Plus Jakarta Sans"/>
                <a:ea typeface="Plus Jakarta Sans"/>
                <a:cs typeface="Plus Jakarta Sans"/>
                <a:sym typeface="Plus Jakarta Sans"/>
              </a:rPr>
              <a:t>Per diems calculated by the Labour Code</a:t>
            </a:r>
            <a:endParaRPr/>
          </a:p>
        </p:txBody>
      </p:sp>
      <p:sp>
        <p:nvSpPr>
          <p:cNvPr id="177" name="Google Shape;177;h18d92c90695434c9_0_0"/>
          <p:cNvSpPr/>
          <p:nvPr/>
        </p:nvSpPr>
        <p:spPr>
          <a:xfrm>
            <a:off x="7178040" y="4846320"/>
            <a:ext cx="384000" cy="384000"/>
          </a:xfrm>
          <a:prstGeom prst="ellipse">
            <a:avLst/>
          </a:prstGeom>
          <a:solidFill>
            <a:srgbClr val="3FC79A"/>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300">
                <a:solidFill>
                  <a:srgbClr val="FFFFFF"/>
                </a:solidFill>
                <a:latin typeface="Plus Jakarta Sans"/>
                <a:ea typeface="Plus Jakarta Sans"/>
                <a:cs typeface="Plus Jakarta Sans"/>
                <a:sym typeface="Plus Jakarta Sans"/>
              </a:rPr>
              <a:t>6</a:t>
            </a:r>
            <a:endParaRPr/>
          </a:p>
        </p:txBody>
      </p:sp>
      <p:sp>
        <p:nvSpPr>
          <p:cNvPr id="178" name="Google Shape;178;h18d92c90695434c9_0_0"/>
          <p:cNvSpPr txBox="1"/>
          <p:nvPr/>
        </p:nvSpPr>
        <p:spPr>
          <a:xfrm>
            <a:off x="7726679" y="4882896"/>
            <a:ext cx="37491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rgbClr val="F1F3FA"/>
                </a:solidFill>
                <a:latin typeface="Plus Jakarta Sans"/>
                <a:ea typeface="Plus Jakarta Sans"/>
                <a:cs typeface="Plus Jakarta Sans"/>
                <a:sym typeface="Plus Jakarta Sans"/>
              </a:rPr>
              <a:t>Exact amount paid out to the employee</a:t>
            </a:r>
            <a:endParaRPr/>
          </a:p>
        </p:txBody>
      </p:sp>
      <p:sp>
        <p:nvSpPr>
          <p:cNvPr id="179" name="Google Shape;179;h18d92c90695434c9_0_0"/>
          <p:cNvSpPr/>
          <p:nvPr/>
        </p:nvSpPr>
        <p:spPr>
          <a:xfrm>
            <a:off x="7178040" y="5486400"/>
            <a:ext cx="4251900" cy="457200"/>
          </a:xfrm>
          <a:prstGeom prst="roundRect">
            <a:avLst>
              <a:gd fmla="val 6000" name="adj"/>
            </a:avLst>
          </a:prstGeom>
          <a:solidFill>
            <a:srgbClr val="1E2463"/>
          </a:solidFill>
          <a:ln>
            <a:noFill/>
          </a:ln>
        </p:spPr>
        <p:txBody>
          <a:bodyPr anchorCtr="0" anchor="ctr" bIns="64000" lIns="91425" spcFirstLastPara="1" rIns="91425" wrap="square" tIns="64000">
            <a:noAutofit/>
          </a:bodyPr>
          <a:lstStyle/>
          <a:p>
            <a:pPr indent="0" lvl="0" marL="0" marR="0" rtl="0" algn="ctr">
              <a:spcBef>
                <a:spcPts val="0"/>
              </a:spcBef>
              <a:spcAft>
                <a:spcPts val="0"/>
              </a:spcAft>
              <a:buNone/>
            </a:pPr>
            <a:r>
              <a:rPr b="1" i="0" lang="en-US" sz="1500">
                <a:solidFill>
                  <a:srgbClr val="7C82EE"/>
                </a:solidFill>
                <a:latin typeface="Plus Jakarta Sans"/>
                <a:ea typeface="Plus Jakarta Sans"/>
                <a:cs typeface="Plus Jakarta Sans"/>
                <a:sym typeface="Plus Jakarta Sans"/>
              </a:rPr>
              <a:t>AI reads. Rules decide.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83" name="Shape 183"/>
        <p:cNvGrpSpPr/>
        <p:nvPr/>
      </p:nvGrpSpPr>
      <p:grpSpPr>
        <a:xfrm>
          <a:off x="0" y="0"/>
          <a:ext cx="0" cy="0"/>
          <a:chOff x="0" y="0"/>
          <a:chExt cx="0" cy="0"/>
        </a:xfrm>
      </p:grpSpPr>
      <p:sp>
        <p:nvSpPr>
          <p:cNvPr id="184" name="Google Shape;184;h75579fc710a7a87f_0_74"/>
          <p:cNvSpPr txBox="1"/>
          <p:nvPr/>
        </p:nvSpPr>
        <p:spPr>
          <a:xfrm>
            <a:off x="6858183" y="566928"/>
            <a:ext cx="4572000" cy="1617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50" u="none" cap="none" strike="noStrike">
                <a:solidFill>
                  <a:srgbClr val="A9B0CF"/>
                </a:solidFill>
                <a:latin typeface="Plus Jakarta Sans"/>
                <a:ea typeface="Plus Jakarta Sans"/>
                <a:cs typeface="Plus Jakarta Sans"/>
                <a:sym typeface="Plus Jakarta Sans"/>
              </a:rPr>
              <a:t>THE FINTECHERS 2026</a:t>
            </a:r>
            <a:endParaRPr/>
          </a:p>
        </p:txBody>
      </p:sp>
      <p:pic>
        <p:nvPicPr>
          <p:cNvPr descr="2895a930a8da6dc05fc1b886c71ffb7a.png" id="185" name="Google Shape;185;h75579fc710a7a87f_0_74"/>
          <p:cNvPicPr preferRelativeResize="0"/>
          <p:nvPr/>
        </p:nvPicPr>
        <p:blipFill rotWithShape="1">
          <a:blip r:embed="rId3">
            <a:alphaModFix/>
          </a:blip>
          <a:srcRect b="0" l="0" r="0" t="0"/>
          <a:stretch/>
        </p:blipFill>
        <p:spPr>
          <a:xfrm>
            <a:off x="758972" y="1463040"/>
            <a:ext cx="2514601" cy="1135626"/>
          </a:xfrm>
          <a:prstGeom prst="rect">
            <a:avLst/>
          </a:prstGeom>
          <a:noFill/>
          <a:ln>
            <a:noFill/>
          </a:ln>
        </p:spPr>
      </p:pic>
      <p:sp>
        <p:nvSpPr>
          <p:cNvPr id="186" name="Google Shape;186;h75579fc710a7a87f_0_74"/>
          <p:cNvSpPr txBox="1"/>
          <p:nvPr/>
        </p:nvSpPr>
        <p:spPr>
          <a:xfrm>
            <a:off x="758972" y="2834640"/>
            <a:ext cx="7315500" cy="831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5400" u="none" cap="none" strike="noStrike">
                <a:solidFill>
                  <a:srgbClr val="F1F3FA"/>
                </a:solidFill>
                <a:latin typeface="Plus Jakarta Sans"/>
                <a:ea typeface="Plus Jakarta Sans"/>
                <a:cs typeface="Plus Jakarta Sans"/>
                <a:sym typeface="Plus Jakarta Sans"/>
              </a:rPr>
              <a:t>Hackathon demo</a:t>
            </a:r>
            <a:endParaRPr/>
          </a:p>
        </p:txBody>
      </p:sp>
      <p:sp>
        <p:nvSpPr>
          <p:cNvPr id="187" name="Google Shape;187;h75579fc710a7a87f_0_74"/>
          <p:cNvSpPr txBox="1"/>
          <p:nvPr/>
        </p:nvSpPr>
        <p:spPr>
          <a:xfrm>
            <a:off x="758972" y="3977639"/>
            <a:ext cx="73155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7C82EE"/>
                </a:solidFill>
                <a:latin typeface="Plus Jakarta Sans"/>
                <a:ea typeface="Plus Jakarta Sans"/>
                <a:cs typeface="Plus Jakarta Sans"/>
                <a:sym typeface="Plus Jakarta Sans"/>
              </a:rPr>
              <a:t>Three use cases, one agent.</a:t>
            </a:r>
            <a:endParaRPr/>
          </a:p>
        </p:txBody>
      </p:sp>
      <p:sp>
        <p:nvSpPr>
          <p:cNvPr id="188" name="Google Shape;188;h75579fc710a7a87f_0_74"/>
          <p:cNvSpPr/>
          <p:nvPr/>
        </p:nvSpPr>
        <p:spPr>
          <a:xfrm>
            <a:off x="8138377" y="1737360"/>
            <a:ext cx="822900" cy="822900"/>
          </a:xfrm>
          <a:prstGeom prst="ellipse">
            <a:avLst/>
          </a:prstGeom>
          <a:solidFill>
            <a:srgbClr val="6A70E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user.png" id="189" name="Google Shape;189;h75579fc710a7a87f_0_74"/>
          <p:cNvPicPr preferRelativeResize="0"/>
          <p:nvPr/>
        </p:nvPicPr>
        <p:blipFill rotWithShape="1">
          <a:blip r:embed="rId4">
            <a:alphaModFix/>
          </a:blip>
          <a:srcRect b="0" l="0" r="0" t="0"/>
          <a:stretch/>
        </p:blipFill>
        <p:spPr>
          <a:xfrm>
            <a:off x="8360582" y="1959559"/>
            <a:ext cx="378561" cy="378561"/>
          </a:xfrm>
          <a:prstGeom prst="rect">
            <a:avLst/>
          </a:prstGeom>
          <a:noFill/>
          <a:ln>
            <a:noFill/>
          </a:ln>
        </p:spPr>
      </p:pic>
      <p:sp>
        <p:nvSpPr>
          <p:cNvPr id="190" name="Google Shape;190;h75579fc710a7a87f_0_74"/>
          <p:cNvSpPr txBox="1"/>
          <p:nvPr/>
        </p:nvSpPr>
        <p:spPr>
          <a:xfrm>
            <a:off x="9144244" y="1810512"/>
            <a:ext cx="23775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2A93B"/>
                </a:solidFill>
                <a:latin typeface="Plus Jakarta Sans"/>
                <a:ea typeface="Plus Jakarta Sans"/>
                <a:cs typeface="Plus Jakarta Sans"/>
                <a:sym typeface="Plus Jakarta Sans"/>
              </a:rPr>
              <a:t>USE CASE 1</a:t>
            </a:r>
            <a:endParaRPr/>
          </a:p>
        </p:txBody>
      </p:sp>
      <p:sp>
        <p:nvSpPr>
          <p:cNvPr id="191" name="Google Shape;191;h75579fc710a7a87f_0_74"/>
          <p:cNvSpPr txBox="1"/>
          <p:nvPr/>
        </p:nvSpPr>
        <p:spPr>
          <a:xfrm>
            <a:off x="9144244" y="2121408"/>
            <a:ext cx="25602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a:solidFill>
                  <a:srgbClr val="F1F3FA"/>
                </a:solidFill>
                <a:latin typeface="Plus Jakarta Sans"/>
                <a:ea typeface="Plus Jakarta Sans"/>
                <a:cs typeface="Plus Jakarta Sans"/>
                <a:sym typeface="Plus Jakarta Sans"/>
              </a:rPr>
              <a:t>Entrepreneur</a:t>
            </a:r>
            <a:endParaRPr/>
          </a:p>
        </p:txBody>
      </p:sp>
      <p:sp>
        <p:nvSpPr>
          <p:cNvPr id="192" name="Google Shape;192;h75579fc710a7a87f_0_74"/>
          <p:cNvSpPr/>
          <p:nvPr/>
        </p:nvSpPr>
        <p:spPr>
          <a:xfrm>
            <a:off x="8138377" y="2971800"/>
            <a:ext cx="822900" cy="822900"/>
          </a:xfrm>
          <a:prstGeom prst="ellipse">
            <a:avLst/>
          </a:prstGeom>
          <a:solidFill>
            <a:srgbClr val="6A70E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card2.png" id="193" name="Google Shape;193;h75579fc710a7a87f_0_74"/>
          <p:cNvPicPr preferRelativeResize="0"/>
          <p:nvPr/>
        </p:nvPicPr>
        <p:blipFill rotWithShape="1">
          <a:blip r:embed="rId5">
            <a:alphaModFix/>
          </a:blip>
          <a:srcRect b="0" l="0" r="0" t="0"/>
          <a:stretch/>
        </p:blipFill>
        <p:spPr>
          <a:xfrm>
            <a:off x="8360582" y="3193999"/>
            <a:ext cx="378561" cy="378561"/>
          </a:xfrm>
          <a:prstGeom prst="rect">
            <a:avLst/>
          </a:prstGeom>
          <a:noFill/>
          <a:ln>
            <a:noFill/>
          </a:ln>
        </p:spPr>
      </p:pic>
      <p:sp>
        <p:nvSpPr>
          <p:cNvPr id="194" name="Google Shape;194;h75579fc710a7a87f_0_74"/>
          <p:cNvSpPr txBox="1"/>
          <p:nvPr/>
        </p:nvSpPr>
        <p:spPr>
          <a:xfrm>
            <a:off x="9144244" y="3044952"/>
            <a:ext cx="23775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2A93B"/>
                </a:solidFill>
                <a:latin typeface="Plus Jakarta Sans"/>
                <a:ea typeface="Plus Jakarta Sans"/>
                <a:cs typeface="Plus Jakarta Sans"/>
                <a:sym typeface="Plus Jakarta Sans"/>
              </a:rPr>
              <a:t>USE CASE 2</a:t>
            </a:r>
            <a:endParaRPr/>
          </a:p>
        </p:txBody>
      </p:sp>
      <p:sp>
        <p:nvSpPr>
          <p:cNvPr id="195" name="Google Shape;195;h75579fc710a7a87f_0_74"/>
          <p:cNvSpPr txBox="1"/>
          <p:nvPr/>
        </p:nvSpPr>
        <p:spPr>
          <a:xfrm>
            <a:off x="9144244" y="3355848"/>
            <a:ext cx="25602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a:solidFill>
                  <a:srgbClr val="F1F3FA"/>
                </a:solidFill>
                <a:latin typeface="Plus Jakarta Sans"/>
                <a:ea typeface="Plus Jakarta Sans"/>
                <a:cs typeface="Plus Jakarta Sans"/>
                <a:sym typeface="Plus Jakarta Sans"/>
              </a:rPr>
              <a:t>Corporate card</a:t>
            </a:r>
            <a:endParaRPr/>
          </a:p>
        </p:txBody>
      </p:sp>
      <p:sp>
        <p:nvSpPr>
          <p:cNvPr id="196" name="Google Shape;196;h75579fc710a7a87f_0_74"/>
          <p:cNvSpPr/>
          <p:nvPr/>
        </p:nvSpPr>
        <p:spPr>
          <a:xfrm>
            <a:off x="8138377" y="4206240"/>
            <a:ext cx="822900" cy="822900"/>
          </a:xfrm>
          <a:prstGeom prst="ellipse">
            <a:avLst/>
          </a:prstGeom>
          <a:solidFill>
            <a:srgbClr val="6A70E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file.png" id="197" name="Google Shape;197;h75579fc710a7a87f_0_74"/>
          <p:cNvPicPr preferRelativeResize="0"/>
          <p:nvPr/>
        </p:nvPicPr>
        <p:blipFill rotWithShape="1">
          <a:blip r:embed="rId6">
            <a:alphaModFix/>
          </a:blip>
          <a:srcRect b="0" l="0" r="0" t="0"/>
          <a:stretch/>
        </p:blipFill>
        <p:spPr>
          <a:xfrm>
            <a:off x="8360582" y="4428439"/>
            <a:ext cx="378561" cy="378561"/>
          </a:xfrm>
          <a:prstGeom prst="rect">
            <a:avLst/>
          </a:prstGeom>
          <a:noFill/>
          <a:ln>
            <a:noFill/>
          </a:ln>
        </p:spPr>
      </p:pic>
      <p:sp>
        <p:nvSpPr>
          <p:cNvPr id="198" name="Google Shape;198;h75579fc710a7a87f_0_74"/>
          <p:cNvSpPr txBox="1"/>
          <p:nvPr/>
        </p:nvSpPr>
        <p:spPr>
          <a:xfrm>
            <a:off x="9144244" y="4279392"/>
            <a:ext cx="23775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2A93B"/>
                </a:solidFill>
                <a:latin typeface="Plus Jakarta Sans"/>
                <a:ea typeface="Plus Jakarta Sans"/>
                <a:cs typeface="Plus Jakarta Sans"/>
                <a:sym typeface="Plus Jakarta Sans"/>
              </a:rPr>
              <a:t>USE CASE 3</a:t>
            </a:r>
            <a:endParaRPr/>
          </a:p>
        </p:txBody>
      </p:sp>
      <p:sp>
        <p:nvSpPr>
          <p:cNvPr id="199" name="Google Shape;199;h75579fc710a7a87f_0_74"/>
          <p:cNvSpPr txBox="1"/>
          <p:nvPr/>
        </p:nvSpPr>
        <p:spPr>
          <a:xfrm>
            <a:off x="9144244" y="4590288"/>
            <a:ext cx="25602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a:solidFill>
                  <a:srgbClr val="F1F3FA"/>
                </a:solidFill>
                <a:latin typeface="Plus Jakarta Sans"/>
                <a:ea typeface="Plus Jakarta Sans"/>
                <a:cs typeface="Plus Jakarta Sans"/>
                <a:sym typeface="Plus Jakarta Sans"/>
              </a:rPr>
              <a:t>Card + receipts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204" name="Shape 204"/>
        <p:cNvGrpSpPr/>
        <p:nvPr/>
      </p:nvGrpSpPr>
      <p:grpSpPr>
        <a:xfrm>
          <a:off x="0" y="0"/>
          <a:ext cx="0" cy="0"/>
          <a:chOff x="0" y="0"/>
          <a:chExt cx="0" cy="0"/>
        </a:xfrm>
      </p:grpSpPr>
      <p:sp>
        <p:nvSpPr>
          <p:cNvPr id="205" name="Google Shape;205;h75579fc710a7a87f_0_27"/>
          <p:cNvSpPr txBox="1"/>
          <p:nvPr/>
        </p:nvSpPr>
        <p:spPr>
          <a:xfrm>
            <a:off x="758972" y="566928"/>
            <a:ext cx="5486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a:solidFill>
                  <a:srgbClr val="F2A93B"/>
                </a:solidFill>
                <a:latin typeface="Plus Jakarta Sans"/>
                <a:ea typeface="Plus Jakarta Sans"/>
                <a:cs typeface="Plus Jakarta Sans"/>
                <a:sym typeface="Plus Jakarta Sans"/>
              </a:rPr>
              <a:t>USE CASE 2</a:t>
            </a:r>
            <a:endParaRPr/>
          </a:p>
        </p:txBody>
      </p:sp>
      <p:sp>
        <p:nvSpPr>
          <p:cNvPr id="206" name="Google Shape;206;h75579fc710a7a87f_0_27"/>
          <p:cNvSpPr txBox="1"/>
          <p:nvPr/>
        </p:nvSpPr>
        <p:spPr>
          <a:xfrm>
            <a:off x="6858183" y="566928"/>
            <a:ext cx="4572000" cy="1617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50">
                <a:solidFill>
                  <a:srgbClr val="A9B0CF"/>
                </a:solidFill>
                <a:latin typeface="Plus Jakarta Sans"/>
                <a:ea typeface="Plus Jakarta Sans"/>
                <a:cs typeface="Plus Jakarta Sans"/>
                <a:sym typeface="Plus Jakarta Sans"/>
              </a:rPr>
              <a:t>CORPORATE CARD</a:t>
            </a:r>
            <a:endParaRPr/>
          </a:p>
        </p:txBody>
      </p:sp>
      <p:sp>
        <p:nvSpPr>
          <p:cNvPr id="207" name="Google Shape;207;h75579fc710a7a87f_0_27"/>
          <p:cNvSpPr txBox="1"/>
          <p:nvPr/>
        </p:nvSpPr>
        <p:spPr>
          <a:xfrm>
            <a:off x="758972" y="960120"/>
            <a:ext cx="10671300" cy="384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00">
                <a:solidFill>
                  <a:srgbClr val="F1F3FA"/>
                </a:solidFill>
                <a:latin typeface="Plus Jakarta Sans"/>
                <a:ea typeface="Plus Jakarta Sans"/>
                <a:cs typeface="Plus Jakarta Sans"/>
                <a:sym typeface="Plus Jakarta Sans"/>
              </a:rPr>
              <a:t>Employee pays with a corporate card on a business trip</a:t>
            </a:r>
            <a:endParaRPr/>
          </a:p>
        </p:txBody>
      </p:sp>
      <p:sp>
        <p:nvSpPr>
          <p:cNvPr id="208" name="Google Shape;208;h75579fc710a7a87f_0_27"/>
          <p:cNvSpPr/>
          <p:nvPr/>
        </p:nvSpPr>
        <p:spPr>
          <a:xfrm>
            <a:off x="758972" y="2057400"/>
            <a:ext cx="3252300" cy="3566100"/>
          </a:xfrm>
          <a:prstGeom prst="roundRect">
            <a:avLst>
              <a:gd fmla="val 6000" name="adj"/>
            </a:avLst>
          </a:prstGeom>
          <a:solidFill>
            <a:srgbClr val="161C2F"/>
          </a:solidFill>
          <a:ln cap="flat" cmpd="sng" w="12700">
            <a:solidFill>
              <a:srgbClr val="2A33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h75579fc710a7a87f_0_27"/>
          <p:cNvSpPr/>
          <p:nvPr/>
        </p:nvSpPr>
        <p:spPr>
          <a:xfrm>
            <a:off x="1033299" y="2331720"/>
            <a:ext cx="567000" cy="567000"/>
          </a:xfrm>
          <a:prstGeom prst="ellipse">
            <a:avLst/>
          </a:prstGeom>
          <a:solidFill>
            <a:srgbClr val="2A221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warn.png" id="210" name="Google Shape;210;h75579fc710a7a87f_0_27"/>
          <p:cNvPicPr preferRelativeResize="0"/>
          <p:nvPr/>
        </p:nvPicPr>
        <p:blipFill rotWithShape="1">
          <a:blip r:embed="rId3">
            <a:alphaModFix/>
          </a:blip>
          <a:srcRect b="0" l="0" r="0" t="0"/>
          <a:stretch/>
        </p:blipFill>
        <p:spPr>
          <a:xfrm>
            <a:off x="1186374" y="2484790"/>
            <a:ext cx="260786" cy="260786"/>
          </a:xfrm>
          <a:prstGeom prst="rect">
            <a:avLst/>
          </a:prstGeom>
          <a:noFill/>
          <a:ln>
            <a:noFill/>
          </a:ln>
        </p:spPr>
      </p:pic>
      <p:sp>
        <p:nvSpPr>
          <p:cNvPr id="211" name="Google Shape;211;h75579fc710a7a87f_0_27"/>
          <p:cNvSpPr txBox="1"/>
          <p:nvPr/>
        </p:nvSpPr>
        <p:spPr>
          <a:xfrm>
            <a:off x="1746551" y="2432304"/>
            <a:ext cx="2063400" cy="2001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300">
                <a:solidFill>
                  <a:srgbClr val="F2A93B"/>
                </a:solidFill>
                <a:latin typeface="Plus Jakarta Sans"/>
                <a:ea typeface="Plus Jakarta Sans"/>
                <a:cs typeface="Plus Jakarta Sans"/>
                <a:sym typeface="Plus Jakarta Sans"/>
              </a:rPr>
              <a:t>PAIN POINT</a:t>
            </a:r>
            <a:endParaRPr/>
          </a:p>
        </p:txBody>
      </p:sp>
      <p:sp>
        <p:nvSpPr>
          <p:cNvPr id="212" name="Google Shape;212;h75579fc710a7a87f_0_27"/>
          <p:cNvSpPr txBox="1"/>
          <p:nvPr/>
        </p:nvSpPr>
        <p:spPr>
          <a:xfrm>
            <a:off x="1051588" y="3200400"/>
            <a:ext cx="2703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F2A93B"/>
                </a:solidFill>
                <a:latin typeface="Plus Jakarta Sans"/>
                <a:ea typeface="Plus Jakarta Sans"/>
                <a:cs typeface="Plus Jakarta Sans"/>
                <a:sym typeface="Plus Jakarta Sans"/>
              </a:rPr>
              <a:t>•  </a:t>
            </a:r>
            <a:r>
              <a:rPr b="0" i="0" lang="en-US" sz="1500">
                <a:solidFill>
                  <a:srgbClr val="F1F3FA"/>
                </a:solidFill>
                <a:latin typeface="Plus Jakarta Sans"/>
                <a:ea typeface="Plus Jakarta Sans"/>
                <a:cs typeface="Plus Jakarta Sans"/>
                <a:sym typeface="Plus Jakarta Sans"/>
              </a:rPr>
              <a:t>Unclear card transactions must be turned into a trip</a:t>
            </a:r>
            <a:endParaRPr/>
          </a:p>
        </p:txBody>
      </p:sp>
      <p:sp>
        <p:nvSpPr>
          <p:cNvPr id="213" name="Google Shape;213;h75579fc710a7a87f_0_27"/>
          <p:cNvSpPr txBox="1"/>
          <p:nvPr/>
        </p:nvSpPr>
        <p:spPr>
          <a:xfrm>
            <a:off x="1051588" y="3977639"/>
            <a:ext cx="2703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F2A93B"/>
                </a:solidFill>
                <a:latin typeface="Plus Jakarta Sans"/>
                <a:ea typeface="Plus Jakarta Sans"/>
                <a:cs typeface="Plus Jakarta Sans"/>
                <a:sym typeface="Plus Jakarta Sans"/>
              </a:rPr>
              <a:t>•  </a:t>
            </a:r>
            <a:r>
              <a:rPr b="0" i="0" lang="en-US" sz="1500">
                <a:solidFill>
                  <a:srgbClr val="F1F3FA"/>
                </a:solidFill>
                <a:latin typeface="Plus Jakarta Sans"/>
                <a:ea typeface="Plus Jakarta Sans"/>
                <a:cs typeface="Plus Jakarta Sans"/>
                <a:sym typeface="Plus Jakarta Sans"/>
              </a:rPr>
              <a:t>Transactions get enriched: merchant and category</a:t>
            </a:r>
            <a:endParaRPr/>
          </a:p>
        </p:txBody>
      </p:sp>
      <p:cxnSp>
        <p:nvCxnSpPr>
          <p:cNvPr id="214" name="Google Shape;214;h75579fc710a7a87f_0_27"/>
          <p:cNvCxnSpPr/>
          <p:nvPr/>
        </p:nvCxnSpPr>
        <p:spPr>
          <a:xfrm>
            <a:off x="4084429" y="3840480"/>
            <a:ext cx="310800" cy="0"/>
          </a:xfrm>
          <a:prstGeom prst="straightConnector1">
            <a:avLst/>
          </a:prstGeom>
          <a:noFill/>
          <a:ln cap="flat" cmpd="sng" w="31750">
            <a:solidFill>
              <a:srgbClr val="7C82EE"/>
            </a:solidFill>
            <a:prstDash val="solid"/>
            <a:round/>
            <a:headEnd len="sm" w="sm" type="none"/>
            <a:tailEnd len="med" w="med" type="triangle"/>
          </a:ln>
          <a:effectLst>
            <a:outerShdw blurRad="40000" rotWithShape="0" dir="5400000" dist="20000">
              <a:srgbClr val="000000">
                <a:alpha val="38040"/>
              </a:srgbClr>
            </a:outerShdw>
          </a:effectLst>
        </p:spPr>
      </p:cxnSp>
      <p:sp>
        <p:nvSpPr>
          <p:cNvPr id="215" name="Google Shape;215;h75579fc710a7a87f_0_27"/>
          <p:cNvSpPr/>
          <p:nvPr/>
        </p:nvSpPr>
        <p:spPr>
          <a:xfrm>
            <a:off x="4468487" y="2057400"/>
            <a:ext cx="3252300" cy="3566100"/>
          </a:xfrm>
          <a:prstGeom prst="roundRect">
            <a:avLst>
              <a:gd fmla="val 6000" name="adj"/>
            </a:avLst>
          </a:prstGeom>
          <a:solidFill>
            <a:srgbClr val="1E2463"/>
          </a:solidFill>
          <a:ln cap="flat" cmpd="sng" w="12700">
            <a:solidFill>
              <a:srgbClr val="6A70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h75579fc710a7a87f_0_27"/>
          <p:cNvSpPr/>
          <p:nvPr/>
        </p:nvSpPr>
        <p:spPr>
          <a:xfrm>
            <a:off x="4742814" y="2331720"/>
            <a:ext cx="567000" cy="567000"/>
          </a:xfrm>
          <a:prstGeom prst="ellipse">
            <a:avLst/>
          </a:prstGeom>
          <a:solidFill>
            <a:srgbClr val="6A70E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bolt.png" id="217" name="Google Shape;217;h75579fc710a7a87f_0_27"/>
          <p:cNvPicPr preferRelativeResize="0"/>
          <p:nvPr/>
        </p:nvPicPr>
        <p:blipFill rotWithShape="1">
          <a:blip r:embed="rId4">
            <a:alphaModFix/>
          </a:blip>
          <a:srcRect b="0" l="0" r="0" t="0"/>
          <a:stretch/>
        </p:blipFill>
        <p:spPr>
          <a:xfrm>
            <a:off x="4895889" y="2484790"/>
            <a:ext cx="260786" cy="260786"/>
          </a:xfrm>
          <a:prstGeom prst="rect">
            <a:avLst/>
          </a:prstGeom>
          <a:noFill/>
          <a:ln>
            <a:noFill/>
          </a:ln>
        </p:spPr>
      </p:pic>
      <p:sp>
        <p:nvSpPr>
          <p:cNvPr id="218" name="Google Shape;218;h75579fc710a7a87f_0_27"/>
          <p:cNvSpPr txBox="1"/>
          <p:nvPr/>
        </p:nvSpPr>
        <p:spPr>
          <a:xfrm>
            <a:off x="5456065" y="2432304"/>
            <a:ext cx="2063400" cy="2001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300">
                <a:solidFill>
                  <a:srgbClr val="7C82EE"/>
                </a:solidFill>
                <a:latin typeface="Plus Jakarta Sans"/>
                <a:ea typeface="Plus Jakarta Sans"/>
                <a:cs typeface="Plus Jakarta Sans"/>
                <a:sym typeface="Plus Jakarta Sans"/>
              </a:rPr>
              <a:t>SOLUTION</a:t>
            </a:r>
            <a:endParaRPr/>
          </a:p>
        </p:txBody>
      </p:sp>
      <p:sp>
        <p:nvSpPr>
          <p:cNvPr id="219" name="Google Shape;219;h75579fc710a7a87f_0_27"/>
          <p:cNvSpPr txBox="1"/>
          <p:nvPr/>
        </p:nvSpPr>
        <p:spPr>
          <a:xfrm>
            <a:off x="4761103" y="3200400"/>
            <a:ext cx="2703600" cy="692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7C82EE"/>
                </a:solidFill>
                <a:latin typeface="Plus Jakarta Sans"/>
                <a:ea typeface="Plus Jakarta Sans"/>
                <a:cs typeface="Plus Jakarta Sans"/>
                <a:sym typeface="Plus Jakarta Sans"/>
              </a:rPr>
              <a:t>•  </a:t>
            </a:r>
            <a:r>
              <a:rPr b="0" i="0" lang="en-US" sz="1500">
                <a:solidFill>
                  <a:srgbClr val="F1F3FA"/>
                </a:solidFill>
                <a:latin typeface="Plus Jakarta Sans"/>
                <a:ea typeface="Plus Jakarta Sans"/>
                <a:cs typeface="Plus Jakarta Sans"/>
                <a:sym typeface="Plus Jakarta Sans"/>
              </a:rPr>
              <a:t>Transactions processed automatically, non-compliance flagged</a:t>
            </a:r>
            <a:endParaRPr/>
          </a:p>
        </p:txBody>
      </p:sp>
      <p:sp>
        <p:nvSpPr>
          <p:cNvPr id="220" name="Google Shape;220;h75579fc710a7a87f_0_27"/>
          <p:cNvSpPr txBox="1"/>
          <p:nvPr/>
        </p:nvSpPr>
        <p:spPr>
          <a:xfrm>
            <a:off x="4761103" y="3977639"/>
            <a:ext cx="2703600" cy="692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7C82EE"/>
                </a:solidFill>
                <a:latin typeface="Plus Jakarta Sans"/>
                <a:ea typeface="Plus Jakarta Sans"/>
                <a:cs typeface="Plus Jakarta Sans"/>
                <a:sym typeface="Plus Jakarta Sans"/>
              </a:rPr>
              <a:t>•  </a:t>
            </a:r>
            <a:r>
              <a:rPr b="0" i="0" lang="en-US" sz="1500">
                <a:solidFill>
                  <a:srgbClr val="F1F3FA"/>
                </a:solidFill>
                <a:latin typeface="Plus Jakarta Sans"/>
                <a:ea typeface="Plus Jakarta Sans"/>
                <a:cs typeface="Plus Jakarta Sans"/>
                <a:sym typeface="Plus Jakarta Sans"/>
              </a:rPr>
              <a:t>AI prompts plus deterministic calls to the trips engine</a:t>
            </a:r>
            <a:endParaRPr/>
          </a:p>
        </p:txBody>
      </p:sp>
      <p:cxnSp>
        <p:nvCxnSpPr>
          <p:cNvPr id="221" name="Google Shape;221;h75579fc710a7a87f_0_27"/>
          <p:cNvCxnSpPr/>
          <p:nvPr/>
        </p:nvCxnSpPr>
        <p:spPr>
          <a:xfrm>
            <a:off x="7793944" y="3840480"/>
            <a:ext cx="310800" cy="0"/>
          </a:xfrm>
          <a:prstGeom prst="straightConnector1">
            <a:avLst/>
          </a:prstGeom>
          <a:noFill/>
          <a:ln cap="flat" cmpd="sng" w="31750">
            <a:solidFill>
              <a:srgbClr val="7C82EE"/>
            </a:solidFill>
            <a:prstDash val="solid"/>
            <a:round/>
            <a:headEnd len="sm" w="sm" type="none"/>
            <a:tailEnd len="med" w="med" type="triangle"/>
          </a:ln>
          <a:effectLst>
            <a:outerShdw blurRad="40000" rotWithShape="0" dir="5400000" dist="20000">
              <a:srgbClr val="000000">
                <a:alpha val="38040"/>
              </a:srgbClr>
            </a:outerShdw>
          </a:effectLst>
        </p:spPr>
      </p:cxnSp>
      <p:sp>
        <p:nvSpPr>
          <p:cNvPr id="222" name="Google Shape;222;h75579fc710a7a87f_0_27"/>
          <p:cNvSpPr/>
          <p:nvPr/>
        </p:nvSpPr>
        <p:spPr>
          <a:xfrm>
            <a:off x="8178002" y="2057400"/>
            <a:ext cx="3252300" cy="3566100"/>
          </a:xfrm>
          <a:prstGeom prst="roundRect">
            <a:avLst>
              <a:gd fmla="val 6000" name="adj"/>
            </a:avLst>
          </a:prstGeom>
          <a:solidFill>
            <a:srgbClr val="0F2A24"/>
          </a:solidFill>
          <a:ln cap="flat" cmpd="sng" w="12700">
            <a:solidFill>
              <a:srgbClr val="2F8F6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 name="Google Shape;223;h75579fc710a7a87f_0_27"/>
          <p:cNvSpPr/>
          <p:nvPr/>
        </p:nvSpPr>
        <p:spPr>
          <a:xfrm>
            <a:off x="8452329" y="2331720"/>
            <a:ext cx="567000" cy="567000"/>
          </a:xfrm>
          <a:prstGeom prst="ellipse">
            <a:avLst/>
          </a:prstGeom>
          <a:solidFill>
            <a:srgbClr val="3FC79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check.png" id="224" name="Google Shape;224;h75579fc710a7a87f_0_27"/>
          <p:cNvPicPr preferRelativeResize="0"/>
          <p:nvPr/>
        </p:nvPicPr>
        <p:blipFill rotWithShape="1">
          <a:blip r:embed="rId5">
            <a:alphaModFix/>
          </a:blip>
          <a:srcRect b="0" l="0" r="0" t="0"/>
          <a:stretch/>
        </p:blipFill>
        <p:spPr>
          <a:xfrm>
            <a:off x="8605403" y="2484790"/>
            <a:ext cx="260786" cy="260786"/>
          </a:xfrm>
          <a:prstGeom prst="rect">
            <a:avLst/>
          </a:prstGeom>
          <a:noFill/>
          <a:ln>
            <a:noFill/>
          </a:ln>
        </p:spPr>
      </p:pic>
      <p:sp>
        <p:nvSpPr>
          <p:cNvPr id="225" name="Google Shape;225;h75579fc710a7a87f_0_27"/>
          <p:cNvSpPr txBox="1"/>
          <p:nvPr/>
        </p:nvSpPr>
        <p:spPr>
          <a:xfrm>
            <a:off x="9165580" y="2432304"/>
            <a:ext cx="2063400" cy="2001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300">
                <a:solidFill>
                  <a:srgbClr val="3FC79A"/>
                </a:solidFill>
                <a:latin typeface="Plus Jakarta Sans"/>
                <a:ea typeface="Plus Jakarta Sans"/>
                <a:cs typeface="Plus Jakarta Sans"/>
                <a:sym typeface="Plus Jakarta Sans"/>
              </a:rPr>
              <a:t>BENEFIT</a:t>
            </a:r>
            <a:endParaRPr/>
          </a:p>
        </p:txBody>
      </p:sp>
      <p:sp>
        <p:nvSpPr>
          <p:cNvPr id="226" name="Google Shape;226;h75579fc710a7a87f_0_27"/>
          <p:cNvSpPr txBox="1"/>
          <p:nvPr/>
        </p:nvSpPr>
        <p:spPr>
          <a:xfrm>
            <a:off x="8470618" y="3200400"/>
            <a:ext cx="2703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3FC79A"/>
                </a:solidFill>
                <a:latin typeface="Plus Jakarta Sans"/>
                <a:ea typeface="Plus Jakarta Sans"/>
                <a:cs typeface="Plus Jakarta Sans"/>
                <a:sym typeface="Plus Jakarta Sans"/>
              </a:rPr>
              <a:t>•  </a:t>
            </a:r>
            <a:r>
              <a:rPr b="0" i="0" lang="en-US" sz="1500">
                <a:solidFill>
                  <a:srgbClr val="F1F3FA"/>
                </a:solidFill>
                <a:latin typeface="Plus Jakarta Sans"/>
                <a:ea typeface="Plus Jakarta Sans"/>
                <a:cs typeface="Plus Jakarta Sans"/>
                <a:sym typeface="Plus Jakarta Sans"/>
              </a:rPr>
              <a:t>Trips created automatically from payments</a:t>
            </a:r>
            <a:endParaRPr/>
          </a:p>
        </p:txBody>
      </p:sp>
      <p:sp>
        <p:nvSpPr>
          <p:cNvPr id="227" name="Google Shape;227;h75579fc710a7a87f_0_27"/>
          <p:cNvSpPr txBox="1"/>
          <p:nvPr/>
        </p:nvSpPr>
        <p:spPr>
          <a:xfrm>
            <a:off x="8470618" y="3977639"/>
            <a:ext cx="2703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3FC79A"/>
                </a:solidFill>
                <a:latin typeface="Plus Jakarta Sans"/>
                <a:ea typeface="Plus Jakarta Sans"/>
                <a:cs typeface="Plus Jakarta Sans"/>
                <a:sym typeface="Plus Jakarta Sans"/>
              </a:rPr>
              <a:t>•  </a:t>
            </a:r>
            <a:r>
              <a:rPr b="0" i="0" lang="en-US" sz="1500">
                <a:solidFill>
                  <a:srgbClr val="F1F3FA"/>
                </a:solidFill>
                <a:latin typeface="Plus Jakarta Sans"/>
                <a:ea typeface="Plus Jakarta Sans"/>
                <a:cs typeface="Plus Jakarta Sans"/>
                <a:sym typeface="Plus Jakarta Sans"/>
              </a:rPr>
              <a:t>Manager approves, or the AI copilot fixes issues per trip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232" name="Shape 232"/>
        <p:cNvGrpSpPr/>
        <p:nvPr/>
      </p:nvGrpSpPr>
      <p:grpSpPr>
        <a:xfrm>
          <a:off x="0" y="0"/>
          <a:ext cx="0" cy="0"/>
          <a:chOff x="0" y="0"/>
          <a:chExt cx="0" cy="0"/>
        </a:xfrm>
      </p:grpSpPr>
      <p:sp>
        <p:nvSpPr>
          <p:cNvPr id="233" name="Google Shape;233;h18d92c90695434c9_2_29"/>
          <p:cNvSpPr txBox="1"/>
          <p:nvPr/>
        </p:nvSpPr>
        <p:spPr>
          <a:xfrm>
            <a:off x="758972" y="566928"/>
            <a:ext cx="5486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a:solidFill>
                  <a:srgbClr val="F2A93B"/>
                </a:solidFill>
                <a:latin typeface="Plus Jakarta Sans"/>
                <a:ea typeface="Plus Jakarta Sans"/>
                <a:cs typeface="Plus Jakarta Sans"/>
                <a:sym typeface="Plus Jakarta Sans"/>
              </a:rPr>
              <a:t>USE CASE 2</a:t>
            </a:r>
            <a:endParaRPr/>
          </a:p>
        </p:txBody>
      </p:sp>
      <p:sp>
        <p:nvSpPr>
          <p:cNvPr id="234" name="Google Shape;234;h18d92c90695434c9_2_29"/>
          <p:cNvSpPr txBox="1"/>
          <p:nvPr/>
        </p:nvSpPr>
        <p:spPr>
          <a:xfrm>
            <a:off x="6858183" y="566928"/>
            <a:ext cx="4572000" cy="1617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50">
                <a:solidFill>
                  <a:srgbClr val="A9B0CF"/>
                </a:solidFill>
                <a:latin typeface="Plus Jakarta Sans"/>
                <a:ea typeface="Plus Jakarta Sans"/>
                <a:cs typeface="Plus Jakarta Sans"/>
                <a:sym typeface="Plus Jakarta Sans"/>
              </a:rPr>
              <a:t>CORPORATE CARD</a:t>
            </a:r>
            <a:endParaRPr/>
          </a:p>
        </p:txBody>
      </p:sp>
      <p:pic>
        <p:nvPicPr>
          <p:cNvPr id="235" name="Google Shape;235;h18d92c90695434c9_2_29" title="002 Use Case Two - Banking Trasactions - AI Intelligence - recording_clQgkoU8HcY89LIE7orW-2.mp4">
            <a:hlinkClick r:id="rId3"/>
          </p:cNvPr>
          <p:cNvPicPr preferRelativeResize="0"/>
          <p:nvPr/>
        </p:nvPicPr>
        <p:blipFill>
          <a:blip r:embed="rId4">
            <a:alphaModFix/>
          </a:blip>
          <a:stretch>
            <a:fillRect/>
          </a:stretch>
        </p:blipFill>
        <p:spPr>
          <a:xfrm>
            <a:off x="886487" y="815900"/>
            <a:ext cx="10419024" cy="58607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B1220"/>
        </a:solidFill>
      </p:bgPr>
    </p:bg>
    <p:spTree>
      <p:nvGrpSpPr>
        <p:cNvPr id="240" name="Shape 240"/>
        <p:cNvGrpSpPr/>
        <p:nvPr/>
      </p:nvGrpSpPr>
      <p:grpSpPr>
        <a:xfrm>
          <a:off x="0" y="0"/>
          <a:ext cx="0" cy="0"/>
          <a:chOff x="0" y="0"/>
          <a:chExt cx="0" cy="0"/>
        </a:xfrm>
      </p:grpSpPr>
      <p:sp>
        <p:nvSpPr>
          <p:cNvPr id="241" name="Google Shape;241;p6"/>
          <p:cNvSpPr txBox="1"/>
          <p:nvPr/>
        </p:nvSpPr>
        <p:spPr>
          <a:xfrm>
            <a:off x="762000" y="1009650"/>
            <a:ext cx="10607100" cy="42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500" u="none">
                <a:solidFill>
                  <a:srgbClr val="F1F3FA"/>
                </a:solidFill>
                <a:latin typeface="Plus Jakarta Sans"/>
                <a:ea typeface="Plus Jakarta Sans"/>
                <a:cs typeface="Plus Jakarta Sans"/>
                <a:sym typeface="Plus Jakarta Sans"/>
              </a:rPr>
              <a:t>Corporate cards already see the payments. We close the trip.</a:t>
            </a:r>
            <a:endParaRPr/>
          </a:p>
        </p:txBody>
      </p:sp>
      <p:sp>
        <p:nvSpPr>
          <p:cNvPr id="242" name="Google Shape;242;p6"/>
          <p:cNvSpPr txBox="1"/>
          <p:nvPr/>
        </p:nvSpPr>
        <p:spPr>
          <a:xfrm>
            <a:off x="762000" y="609600"/>
            <a:ext cx="4572000" cy="17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a:solidFill>
                  <a:srgbClr val="F2A93B"/>
                </a:solidFill>
                <a:latin typeface="Space Grotesk"/>
                <a:ea typeface="Space Grotesk"/>
                <a:cs typeface="Space Grotesk"/>
                <a:sym typeface="Space Grotesk"/>
              </a:rPr>
              <a:t>SLIDE 06 / 12 • BUSINESS CASE</a:t>
            </a:r>
            <a:endParaRPr/>
          </a:p>
        </p:txBody>
      </p:sp>
      <p:sp>
        <p:nvSpPr>
          <p:cNvPr id="243" name="Google Shape;243;p6"/>
          <p:cNvSpPr txBox="1"/>
          <p:nvPr/>
        </p:nvSpPr>
        <p:spPr>
          <a:xfrm>
            <a:off x="8058150" y="609600"/>
            <a:ext cx="3657600" cy="171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50" u="none">
                <a:solidFill>
                  <a:srgbClr val="A9B0CF"/>
                </a:solidFill>
                <a:latin typeface="Space Grotesk"/>
                <a:ea typeface="Space Grotesk"/>
                <a:cs typeface="Space Grotesk"/>
                <a:sym typeface="Space Grotesk"/>
              </a:rPr>
              <a:t>LARGE COMPANIES</a:t>
            </a:r>
            <a:endParaRPr/>
          </a:p>
        </p:txBody>
      </p:sp>
      <p:sp>
        <p:nvSpPr>
          <p:cNvPr id="244" name="Google Shape;244;p6"/>
          <p:cNvSpPr/>
          <p:nvPr/>
        </p:nvSpPr>
        <p:spPr>
          <a:xfrm>
            <a:off x="758952" y="1783080"/>
            <a:ext cx="3227700" cy="960000"/>
          </a:xfrm>
          <a:prstGeom prst="roundRect">
            <a:avLst>
              <a:gd fmla="val 6000" name="adj"/>
            </a:avLst>
          </a:prstGeom>
          <a:solidFill>
            <a:srgbClr val="161C2F"/>
          </a:solidFill>
          <a:ln cap="flat" cmpd="sng" w="9525">
            <a:solidFill>
              <a:srgbClr val="2A3352"/>
            </a:solidFill>
            <a:prstDash val="solid"/>
            <a:round/>
            <a:headEnd len="sm" w="sm" type="none"/>
            <a:tailEnd len="sm" w="sm" type="none"/>
          </a:ln>
        </p:spPr>
        <p:txBody>
          <a:bodyPr anchorCtr="0" anchor="ctr" bIns="128000" lIns="182875" spcFirstLastPara="1" rIns="182875" wrap="square" tIns="128000">
            <a:noAutofit/>
          </a:bodyPr>
          <a:lstStyle/>
          <a:p>
            <a:pPr indent="0" lvl="0" marL="0" marR="0" rtl="0" algn="ctr">
              <a:spcBef>
                <a:spcPts val="0"/>
              </a:spcBef>
              <a:spcAft>
                <a:spcPts val="0"/>
              </a:spcAft>
              <a:buNone/>
            </a:pPr>
            <a:r>
              <a:rPr b="1" i="0" lang="en-US" sz="2000">
                <a:solidFill>
                  <a:srgbClr val="F1F3FA"/>
                </a:solidFill>
                <a:latin typeface="Plus Jakarta Sans"/>
                <a:ea typeface="Plus Jakarta Sans"/>
                <a:cs typeface="Plus Jakarta Sans"/>
                <a:sym typeface="Plus Jakarta Sans"/>
              </a:rPr>
              <a:t>Corporate card</a:t>
            </a:r>
            <a:endParaRPr/>
          </a:p>
          <a:p>
            <a:pPr indent="0" lvl="0" marL="0" marR="0" rtl="0" algn="ctr">
              <a:spcBef>
                <a:spcPts val="0"/>
              </a:spcBef>
              <a:spcAft>
                <a:spcPts val="0"/>
              </a:spcAft>
              <a:buNone/>
            </a:pPr>
            <a:r>
              <a:rPr b="0" i="0" lang="en-US" sz="1200">
                <a:solidFill>
                  <a:srgbClr val="A9B0CF"/>
                </a:solidFill>
                <a:latin typeface="Plus Jakarta Sans"/>
                <a:ea typeface="Plus Jakarta Sans"/>
                <a:cs typeface="Plus Jakarta Sans"/>
                <a:sym typeface="Plus Jakarta Sans"/>
              </a:rPr>
              <a:t>payments from the bank</a:t>
            </a:r>
            <a:endParaRPr/>
          </a:p>
        </p:txBody>
      </p:sp>
      <p:sp>
        <p:nvSpPr>
          <p:cNvPr id="245" name="Google Shape;245;p6"/>
          <p:cNvSpPr/>
          <p:nvPr/>
        </p:nvSpPr>
        <p:spPr>
          <a:xfrm>
            <a:off x="4480560" y="1783080"/>
            <a:ext cx="3227700" cy="960000"/>
          </a:xfrm>
          <a:prstGeom prst="roundRect">
            <a:avLst>
              <a:gd fmla="val 6000" name="adj"/>
            </a:avLst>
          </a:prstGeom>
          <a:solidFill>
            <a:srgbClr val="1E2463"/>
          </a:solidFill>
          <a:ln cap="flat" cmpd="sng" w="9525">
            <a:solidFill>
              <a:srgbClr val="7C82EE"/>
            </a:solidFill>
            <a:prstDash val="solid"/>
            <a:round/>
            <a:headEnd len="sm" w="sm" type="none"/>
            <a:tailEnd len="sm" w="sm" type="none"/>
          </a:ln>
        </p:spPr>
        <p:txBody>
          <a:bodyPr anchorCtr="0" anchor="ctr" bIns="128000" lIns="182875" spcFirstLastPara="1" rIns="182875" wrap="square" tIns="128000">
            <a:noAutofit/>
          </a:bodyPr>
          <a:lstStyle/>
          <a:p>
            <a:pPr indent="0" lvl="0" marL="0" marR="0" rtl="0" algn="ctr">
              <a:spcBef>
                <a:spcPts val="0"/>
              </a:spcBef>
              <a:spcAft>
                <a:spcPts val="0"/>
              </a:spcAft>
              <a:buNone/>
            </a:pPr>
            <a:r>
              <a:rPr b="1" i="0" lang="en-US" sz="2000">
                <a:solidFill>
                  <a:srgbClr val="7C82EE"/>
                </a:solidFill>
                <a:latin typeface="Plus Jakarta Sans"/>
                <a:ea typeface="Plus Jakarta Sans"/>
                <a:cs typeface="Plus Jakarta Sans"/>
                <a:sym typeface="Plus Jakarta Sans"/>
              </a:rPr>
              <a:t>PerDiemo</a:t>
            </a:r>
            <a:endParaRPr/>
          </a:p>
          <a:p>
            <a:pPr indent="0" lvl="0" marL="0" marR="0" rtl="0" algn="ctr">
              <a:spcBef>
                <a:spcPts val="0"/>
              </a:spcBef>
              <a:spcAft>
                <a:spcPts val="0"/>
              </a:spcAft>
              <a:buNone/>
            </a:pPr>
            <a:r>
              <a:rPr b="0" i="0" lang="en-US" sz="1200">
                <a:solidFill>
                  <a:srgbClr val="A9B0CF"/>
                </a:solidFill>
                <a:latin typeface="Plus Jakarta Sans"/>
                <a:ea typeface="Plus Jakarta Sans"/>
                <a:cs typeface="Plus Jakarta Sans"/>
                <a:sym typeface="Plus Jakarta Sans"/>
              </a:rPr>
              <a:t>agent + Labour Code engine</a:t>
            </a:r>
            <a:endParaRPr/>
          </a:p>
        </p:txBody>
      </p:sp>
      <p:sp>
        <p:nvSpPr>
          <p:cNvPr id="246" name="Google Shape;246;p6"/>
          <p:cNvSpPr/>
          <p:nvPr/>
        </p:nvSpPr>
        <p:spPr>
          <a:xfrm>
            <a:off x="8202168" y="1783080"/>
            <a:ext cx="3227700" cy="960000"/>
          </a:xfrm>
          <a:prstGeom prst="roundRect">
            <a:avLst>
              <a:gd fmla="val 6000" name="adj"/>
            </a:avLst>
          </a:prstGeom>
          <a:solidFill>
            <a:srgbClr val="0F2A24"/>
          </a:solidFill>
          <a:ln cap="flat" cmpd="sng" w="9525">
            <a:solidFill>
              <a:srgbClr val="2F8F6E"/>
            </a:solidFill>
            <a:prstDash val="solid"/>
            <a:round/>
            <a:headEnd len="sm" w="sm" type="none"/>
            <a:tailEnd len="sm" w="sm" type="none"/>
          </a:ln>
        </p:spPr>
        <p:txBody>
          <a:bodyPr anchorCtr="0" anchor="ctr" bIns="128000" lIns="182875" spcFirstLastPara="1" rIns="182875" wrap="square" tIns="128000">
            <a:noAutofit/>
          </a:bodyPr>
          <a:lstStyle/>
          <a:p>
            <a:pPr indent="0" lvl="0" marL="0" marR="0" rtl="0" algn="ctr">
              <a:spcBef>
                <a:spcPts val="0"/>
              </a:spcBef>
              <a:spcAft>
                <a:spcPts val="0"/>
              </a:spcAft>
              <a:buNone/>
            </a:pPr>
            <a:r>
              <a:rPr b="1" i="0" lang="en-US" sz="2000">
                <a:solidFill>
                  <a:srgbClr val="3FC79A"/>
                </a:solidFill>
                <a:latin typeface="Plus Jakarta Sans"/>
                <a:ea typeface="Plus Jakarta Sans"/>
                <a:cs typeface="Plus Jakarta Sans"/>
                <a:sym typeface="Plus Jakarta Sans"/>
              </a:rPr>
              <a:t>Manager</a:t>
            </a:r>
            <a:endParaRPr/>
          </a:p>
          <a:p>
            <a:pPr indent="0" lvl="0" marL="0" marR="0" rtl="0" algn="ctr">
              <a:spcBef>
                <a:spcPts val="0"/>
              </a:spcBef>
              <a:spcAft>
                <a:spcPts val="0"/>
              </a:spcAft>
              <a:buNone/>
            </a:pPr>
            <a:r>
              <a:rPr b="0" i="0" lang="en-US" sz="1200">
                <a:solidFill>
                  <a:srgbClr val="A9B0CF"/>
                </a:solidFill>
                <a:latin typeface="Plus Jakarta Sans"/>
                <a:ea typeface="Plus Jakarta Sans"/>
                <a:cs typeface="Plus Jakarta Sans"/>
                <a:sym typeface="Plus Jakarta Sans"/>
              </a:rPr>
              <a:t>money back, by law</a:t>
            </a:r>
            <a:endParaRPr/>
          </a:p>
        </p:txBody>
      </p:sp>
      <p:cxnSp>
        <p:nvCxnSpPr>
          <p:cNvPr id="247" name="Google Shape;247;p6"/>
          <p:cNvCxnSpPr/>
          <p:nvPr/>
        </p:nvCxnSpPr>
        <p:spPr>
          <a:xfrm>
            <a:off x="4041648" y="2258568"/>
            <a:ext cx="384000" cy="0"/>
          </a:xfrm>
          <a:prstGeom prst="straightConnector1">
            <a:avLst/>
          </a:prstGeom>
          <a:noFill/>
          <a:ln cap="flat" cmpd="sng" w="31750">
            <a:solidFill>
              <a:srgbClr val="7C82EE"/>
            </a:solidFill>
            <a:prstDash val="solid"/>
            <a:round/>
            <a:headEnd len="sm" w="sm" type="none"/>
            <a:tailEnd len="med" w="med" type="triangle"/>
          </a:ln>
          <a:effectLst>
            <a:outerShdw blurRad="40000" rotWithShape="0" dir="5400000" dist="20000">
              <a:srgbClr val="000000">
                <a:alpha val="38040"/>
              </a:srgbClr>
            </a:outerShdw>
          </a:effectLst>
        </p:spPr>
      </p:cxnSp>
      <p:cxnSp>
        <p:nvCxnSpPr>
          <p:cNvPr id="248" name="Google Shape;248;p6"/>
          <p:cNvCxnSpPr/>
          <p:nvPr/>
        </p:nvCxnSpPr>
        <p:spPr>
          <a:xfrm>
            <a:off x="7763256" y="2258568"/>
            <a:ext cx="384000" cy="0"/>
          </a:xfrm>
          <a:prstGeom prst="straightConnector1">
            <a:avLst/>
          </a:prstGeom>
          <a:noFill/>
          <a:ln cap="flat" cmpd="sng" w="31750">
            <a:solidFill>
              <a:srgbClr val="7C82EE"/>
            </a:solidFill>
            <a:prstDash val="solid"/>
            <a:round/>
            <a:headEnd len="sm" w="sm" type="none"/>
            <a:tailEnd len="med" w="med" type="triangle"/>
          </a:ln>
          <a:effectLst>
            <a:outerShdw blurRad="40000" rotWithShape="0" dir="5400000" dist="20000">
              <a:srgbClr val="000000">
                <a:alpha val="38040"/>
              </a:srgbClr>
            </a:outerShdw>
          </a:effectLst>
        </p:spPr>
      </p:cxnSp>
      <p:sp>
        <p:nvSpPr>
          <p:cNvPr id="249" name="Google Shape;249;p6"/>
          <p:cNvSpPr/>
          <p:nvPr/>
        </p:nvSpPr>
        <p:spPr>
          <a:xfrm>
            <a:off x="758952" y="3154680"/>
            <a:ext cx="2496300" cy="1600200"/>
          </a:xfrm>
          <a:prstGeom prst="roundRect">
            <a:avLst>
              <a:gd fmla="val 6000" name="adj"/>
            </a:avLst>
          </a:prstGeom>
          <a:solidFill>
            <a:srgbClr val="161C2F"/>
          </a:solidFill>
          <a:ln cap="flat" cmpd="sng" w="9525">
            <a:solidFill>
              <a:srgbClr val="2A3352"/>
            </a:solidFill>
            <a:prstDash val="solid"/>
            <a:round/>
            <a:headEnd len="sm" w="sm" type="none"/>
            <a:tailEnd len="sm" w="sm" type="none"/>
          </a:ln>
        </p:spPr>
        <p:txBody>
          <a:bodyPr anchorCtr="0" anchor="t" bIns="128000" lIns="182875" spcFirstLastPara="1" rIns="182875" wrap="square" tIns="128000">
            <a:noAutofit/>
          </a:bodyPr>
          <a:lstStyle/>
          <a:p>
            <a:pPr indent="0" lvl="0" marL="0" marR="0" rtl="0" algn="l">
              <a:spcBef>
                <a:spcPts val="0"/>
              </a:spcBef>
              <a:spcAft>
                <a:spcPts val="0"/>
              </a:spcAft>
              <a:buNone/>
            </a:pPr>
            <a:r>
              <a:rPr b="1" i="0" lang="en-US" sz="1100">
                <a:solidFill>
                  <a:srgbClr val="7C82EE"/>
                </a:solidFill>
                <a:latin typeface="Plus Jakarta Sans"/>
                <a:ea typeface="Plus Jakarta Sans"/>
                <a:cs typeface="Plus Jakarta Sans"/>
                <a:sym typeface="Plus Jakarta Sans"/>
              </a:rPr>
              <a:t>WHO PAYS</a:t>
            </a:r>
            <a:endParaRPr/>
          </a:p>
          <a:p>
            <a:pPr indent="0" lvl="0" marL="0" marR="0" rtl="0" algn="l">
              <a:spcBef>
                <a:spcPts val="800"/>
              </a:spcBef>
              <a:spcAft>
                <a:spcPts val="0"/>
              </a:spcAft>
              <a:buNone/>
            </a:pPr>
            <a:r>
              <a:rPr b="1" i="0" lang="en-US" sz="1500">
                <a:solidFill>
                  <a:srgbClr val="F1F3FA"/>
                </a:solidFill>
                <a:latin typeface="Plus Jakarta Sans"/>
                <a:ea typeface="Plus Jakarta Sans"/>
                <a:cs typeface="Plus Jakarta Sans"/>
                <a:sym typeface="Plus Jakarta Sans"/>
              </a:rPr>
              <a:t>CFOs of companies with hundreds of travelling managers</a:t>
            </a:r>
            <a:endParaRPr/>
          </a:p>
        </p:txBody>
      </p:sp>
      <p:sp>
        <p:nvSpPr>
          <p:cNvPr id="250" name="Google Shape;250;p6"/>
          <p:cNvSpPr/>
          <p:nvPr/>
        </p:nvSpPr>
        <p:spPr>
          <a:xfrm>
            <a:off x="3483864" y="3154680"/>
            <a:ext cx="2496300" cy="1600200"/>
          </a:xfrm>
          <a:prstGeom prst="roundRect">
            <a:avLst>
              <a:gd fmla="val 6000" name="adj"/>
            </a:avLst>
          </a:prstGeom>
          <a:solidFill>
            <a:srgbClr val="161C2F"/>
          </a:solidFill>
          <a:ln cap="flat" cmpd="sng" w="9525">
            <a:solidFill>
              <a:srgbClr val="2A3352"/>
            </a:solidFill>
            <a:prstDash val="solid"/>
            <a:round/>
            <a:headEnd len="sm" w="sm" type="none"/>
            <a:tailEnd len="sm" w="sm" type="none"/>
          </a:ln>
        </p:spPr>
        <p:txBody>
          <a:bodyPr anchorCtr="0" anchor="t" bIns="128000" lIns="182875" spcFirstLastPara="1" rIns="182875" wrap="square" tIns="128000">
            <a:noAutofit/>
          </a:bodyPr>
          <a:lstStyle/>
          <a:p>
            <a:pPr indent="0" lvl="0" marL="0" marR="0" rtl="0" algn="l">
              <a:spcBef>
                <a:spcPts val="0"/>
              </a:spcBef>
              <a:spcAft>
                <a:spcPts val="0"/>
              </a:spcAft>
              <a:buNone/>
            </a:pPr>
            <a:r>
              <a:rPr b="1" i="0" lang="en-US" sz="1100">
                <a:solidFill>
                  <a:srgbClr val="7C82EE"/>
                </a:solidFill>
                <a:latin typeface="Plus Jakarta Sans"/>
                <a:ea typeface="Plus Jakarta Sans"/>
                <a:cs typeface="Plus Jakarta Sans"/>
                <a:sym typeface="Plus Jakarta Sans"/>
              </a:rPr>
              <a:t>HOW</a:t>
            </a:r>
            <a:endParaRPr/>
          </a:p>
          <a:p>
            <a:pPr indent="0" lvl="0" marL="0" marR="0" rtl="0" algn="l">
              <a:spcBef>
                <a:spcPts val="800"/>
              </a:spcBef>
              <a:spcAft>
                <a:spcPts val="0"/>
              </a:spcAft>
              <a:buNone/>
            </a:pPr>
            <a:r>
              <a:rPr b="1" i="0" lang="en-US" sz="1500">
                <a:solidFill>
                  <a:srgbClr val="F1F3FA"/>
                </a:solidFill>
                <a:latin typeface="Plus Jakarta Sans"/>
                <a:ea typeface="Plus Jakarta Sans"/>
                <a:cs typeface="Plus Jakarta Sans"/>
                <a:sym typeface="Plus Jakarta Sans"/>
              </a:rPr>
              <a:t>Annual licence plus a fee per closed trip</a:t>
            </a:r>
            <a:endParaRPr/>
          </a:p>
        </p:txBody>
      </p:sp>
      <p:sp>
        <p:nvSpPr>
          <p:cNvPr id="251" name="Google Shape;251;p6"/>
          <p:cNvSpPr/>
          <p:nvPr/>
        </p:nvSpPr>
        <p:spPr>
          <a:xfrm>
            <a:off x="6208776" y="3154680"/>
            <a:ext cx="2496300" cy="1600200"/>
          </a:xfrm>
          <a:prstGeom prst="roundRect">
            <a:avLst>
              <a:gd fmla="val 6000" name="adj"/>
            </a:avLst>
          </a:prstGeom>
          <a:solidFill>
            <a:srgbClr val="161C2F"/>
          </a:solidFill>
          <a:ln cap="flat" cmpd="sng" w="9525">
            <a:solidFill>
              <a:srgbClr val="2A3352"/>
            </a:solidFill>
            <a:prstDash val="solid"/>
            <a:round/>
            <a:headEnd len="sm" w="sm" type="none"/>
            <a:tailEnd len="sm" w="sm" type="none"/>
          </a:ln>
        </p:spPr>
        <p:txBody>
          <a:bodyPr anchorCtr="0" anchor="t" bIns="128000" lIns="182875" spcFirstLastPara="1" rIns="182875" wrap="square" tIns="128000">
            <a:noAutofit/>
          </a:bodyPr>
          <a:lstStyle/>
          <a:p>
            <a:pPr indent="0" lvl="0" marL="0" marR="0" rtl="0" algn="l">
              <a:spcBef>
                <a:spcPts val="0"/>
              </a:spcBef>
              <a:spcAft>
                <a:spcPts val="0"/>
              </a:spcAft>
              <a:buNone/>
            </a:pPr>
            <a:r>
              <a:rPr b="1" i="0" lang="en-US" sz="1100">
                <a:solidFill>
                  <a:srgbClr val="7C82EE"/>
                </a:solidFill>
                <a:latin typeface="Plus Jakarta Sans"/>
                <a:ea typeface="Plus Jakarta Sans"/>
                <a:cs typeface="Plus Jakarta Sans"/>
                <a:sym typeface="Plus Jakarta Sans"/>
              </a:rPr>
              <a:t>CHANNEL</a:t>
            </a:r>
            <a:endParaRPr/>
          </a:p>
          <a:p>
            <a:pPr indent="0" lvl="0" marL="0" marR="0" rtl="0" algn="l">
              <a:spcBef>
                <a:spcPts val="800"/>
              </a:spcBef>
              <a:spcAft>
                <a:spcPts val="0"/>
              </a:spcAft>
              <a:buNone/>
            </a:pPr>
            <a:r>
              <a:rPr b="1" i="0" lang="en-US" sz="1500">
                <a:solidFill>
                  <a:srgbClr val="F1F3FA"/>
                </a:solidFill>
                <a:latin typeface="Plus Jakarta Sans"/>
                <a:ea typeface="Plus Jakarta Sans"/>
                <a:cs typeface="Plus Jakarta Sans"/>
                <a:sym typeface="Plus Jakarta Sans"/>
              </a:rPr>
              <a:t>Corporate card banks and advisory firms</a:t>
            </a:r>
            <a:endParaRPr/>
          </a:p>
        </p:txBody>
      </p:sp>
      <p:sp>
        <p:nvSpPr>
          <p:cNvPr id="252" name="Google Shape;252;p6"/>
          <p:cNvSpPr/>
          <p:nvPr/>
        </p:nvSpPr>
        <p:spPr>
          <a:xfrm>
            <a:off x="8933688" y="3154680"/>
            <a:ext cx="2496300" cy="1600200"/>
          </a:xfrm>
          <a:prstGeom prst="roundRect">
            <a:avLst>
              <a:gd fmla="val 6000" name="adj"/>
            </a:avLst>
          </a:prstGeom>
          <a:solidFill>
            <a:srgbClr val="161C2F"/>
          </a:solidFill>
          <a:ln cap="flat" cmpd="sng" w="9525">
            <a:solidFill>
              <a:srgbClr val="2A3352"/>
            </a:solidFill>
            <a:prstDash val="solid"/>
            <a:round/>
            <a:headEnd len="sm" w="sm" type="none"/>
            <a:tailEnd len="sm" w="sm" type="none"/>
          </a:ln>
        </p:spPr>
        <p:txBody>
          <a:bodyPr anchorCtr="0" anchor="t" bIns="128000" lIns="182875" spcFirstLastPara="1" rIns="182875" wrap="square" tIns="128000">
            <a:noAutofit/>
          </a:bodyPr>
          <a:lstStyle/>
          <a:p>
            <a:pPr indent="0" lvl="0" marL="0" marR="0" rtl="0" algn="l">
              <a:spcBef>
                <a:spcPts val="0"/>
              </a:spcBef>
              <a:spcAft>
                <a:spcPts val="0"/>
              </a:spcAft>
              <a:buNone/>
            </a:pPr>
            <a:r>
              <a:rPr b="1" i="0" lang="en-US" sz="1100">
                <a:solidFill>
                  <a:srgbClr val="7C82EE"/>
                </a:solidFill>
                <a:latin typeface="Plus Jakarta Sans"/>
                <a:ea typeface="Plus Jakarta Sans"/>
                <a:cs typeface="Plus Jakarta Sans"/>
                <a:sym typeface="Plus Jakarta Sans"/>
              </a:rPr>
              <a:t>NOT A GPT WRAPPER</a:t>
            </a:r>
            <a:endParaRPr/>
          </a:p>
          <a:p>
            <a:pPr indent="0" lvl="0" marL="0" marR="0" rtl="0" algn="l">
              <a:spcBef>
                <a:spcPts val="800"/>
              </a:spcBef>
              <a:spcAft>
                <a:spcPts val="0"/>
              </a:spcAft>
              <a:buNone/>
            </a:pPr>
            <a:r>
              <a:rPr b="1" i="0" lang="en-US" sz="1500">
                <a:solidFill>
                  <a:srgbClr val="F1F3FA"/>
                </a:solidFill>
                <a:latin typeface="Plus Jakarta Sans"/>
                <a:ea typeface="Plus Jakarta Sans"/>
                <a:cs typeface="Plus Jakarta Sans"/>
                <a:sym typeface="Plus Jakarta Sans"/>
              </a:rPr>
              <a:t>AI reads. Rules decide. Data stays in the EU.</a:t>
            </a:r>
            <a:endParaRPr/>
          </a:p>
        </p:txBody>
      </p:sp>
      <p:sp>
        <p:nvSpPr>
          <p:cNvPr id="253" name="Google Shape;253;p6"/>
          <p:cNvSpPr txBox="1"/>
          <p:nvPr/>
        </p:nvSpPr>
        <p:spPr>
          <a:xfrm>
            <a:off x="758952" y="4892040"/>
            <a:ext cx="10671000" cy="365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a:solidFill>
                  <a:srgbClr val="F1F3FA"/>
                </a:solidFill>
                <a:latin typeface="Plus Jakarta Sans"/>
                <a:ea typeface="Plus Jakarta Sans"/>
                <a:cs typeface="Plus Jakarta Sans"/>
                <a:sym typeface="Plus Jakarta Sans"/>
              </a:rPr>
              <a:t>Why us: </a:t>
            </a:r>
            <a:r>
              <a:rPr b="0" i="0" lang="en-US" sz="1500">
                <a:solidFill>
                  <a:srgbClr val="A9B0CF"/>
                </a:solidFill>
                <a:latin typeface="Plus Jakarta Sans"/>
                <a:ea typeface="Plus Jakarta Sans"/>
                <a:cs typeface="Plus Jakarta Sans"/>
                <a:sym typeface="Plus Jakarta Sans"/>
              </a:rPr>
              <a:t>Czech law today. Every EU country is a new rulebook we own.</a:t>
            </a:r>
            <a:endParaRPr/>
          </a:p>
        </p:txBody>
      </p:sp>
      <p:sp>
        <p:nvSpPr>
          <p:cNvPr id="254" name="Google Shape;254;p6"/>
          <p:cNvSpPr txBox="1"/>
          <p:nvPr/>
        </p:nvSpPr>
        <p:spPr>
          <a:xfrm>
            <a:off x="758952" y="5440680"/>
            <a:ext cx="1828800" cy="365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00">
                <a:solidFill>
                  <a:srgbClr val="F2A93B"/>
                </a:solidFill>
                <a:latin typeface="Plus Jakarta Sans"/>
                <a:ea typeface="Plus Jakarta Sans"/>
                <a:cs typeface="Plus Jakarta Sans"/>
                <a:sym typeface="Plus Jakarta Sans"/>
              </a:rPr>
              <a:t>CONNECTS TO</a:t>
            </a:r>
            <a:endParaRPr/>
          </a:p>
        </p:txBody>
      </p:sp>
      <p:sp>
        <p:nvSpPr>
          <p:cNvPr id="255" name="Google Shape;255;p6"/>
          <p:cNvSpPr/>
          <p:nvPr/>
        </p:nvSpPr>
        <p:spPr>
          <a:xfrm>
            <a:off x="2057400" y="5440680"/>
            <a:ext cx="1376100" cy="365700"/>
          </a:xfrm>
          <a:prstGeom prst="roundRect">
            <a:avLst>
              <a:gd fmla="val 50000" name="adj"/>
            </a:avLst>
          </a:prstGeom>
          <a:solidFill>
            <a:srgbClr val="161C2F"/>
          </a:solidFill>
          <a:ln cap="flat" cmpd="sng" w="9525">
            <a:solidFill>
              <a:srgbClr val="2A3352"/>
            </a:solidFill>
            <a:prstDash val="solid"/>
            <a:round/>
            <a:headEnd len="sm" w="sm" type="none"/>
            <a:tailEnd len="sm" w="sm" type="none"/>
          </a:ln>
        </p:spPr>
        <p:txBody>
          <a:bodyPr anchorCtr="0" anchor="ctr" bIns="38400" lIns="54850" spcFirstLastPara="1" rIns="54850" wrap="square" tIns="38400">
            <a:noAutofit/>
          </a:bodyPr>
          <a:lstStyle/>
          <a:p>
            <a:pPr indent="0" lvl="0" marL="0" marR="0" rtl="0" algn="ctr">
              <a:spcBef>
                <a:spcPts val="0"/>
              </a:spcBef>
              <a:spcAft>
                <a:spcPts val="0"/>
              </a:spcAft>
              <a:buNone/>
            </a:pPr>
            <a:r>
              <a:rPr b="0" i="0" lang="en-US" sz="1100">
                <a:solidFill>
                  <a:srgbClr val="F1F3FA"/>
                </a:solidFill>
                <a:latin typeface="Plus Jakarta Sans"/>
                <a:ea typeface="Plus Jakarta Sans"/>
                <a:cs typeface="Plus Jakarta Sans"/>
                <a:sym typeface="Plus Jakarta Sans"/>
              </a:rPr>
              <a:t>Corporate cards</a:t>
            </a:r>
            <a:endParaRPr/>
          </a:p>
        </p:txBody>
      </p:sp>
      <p:sp>
        <p:nvSpPr>
          <p:cNvPr id="256" name="Google Shape;256;p6"/>
          <p:cNvSpPr/>
          <p:nvPr/>
        </p:nvSpPr>
        <p:spPr>
          <a:xfrm>
            <a:off x="3525012" y="5440680"/>
            <a:ext cx="553200" cy="365700"/>
          </a:xfrm>
          <a:prstGeom prst="roundRect">
            <a:avLst>
              <a:gd fmla="val 50000" name="adj"/>
            </a:avLst>
          </a:prstGeom>
          <a:solidFill>
            <a:srgbClr val="161C2F"/>
          </a:solidFill>
          <a:ln cap="flat" cmpd="sng" w="9525">
            <a:solidFill>
              <a:srgbClr val="2A3352"/>
            </a:solidFill>
            <a:prstDash val="solid"/>
            <a:round/>
            <a:headEnd len="sm" w="sm" type="none"/>
            <a:tailEnd len="sm" w="sm" type="none"/>
          </a:ln>
        </p:spPr>
        <p:txBody>
          <a:bodyPr anchorCtr="0" anchor="ctr" bIns="38400" lIns="54850" spcFirstLastPara="1" rIns="54850" wrap="square" tIns="38400">
            <a:noAutofit/>
          </a:bodyPr>
          <a:lstStyle/>
          <a:p>
            <a:pPr indent="0" lvl="0" marL="0" marR="0" rtl="0" algn="ctr">
              <a:spcBef>
                <a:spcPts val="0"/>
              </a:spcBef>
              <a:spcAft>
                <a:spcPts val="0"/>
              </a:spcAft>
              <a:buNone/>
            </a:pPr>
            <a:r>
              <a:rPr b="0" i="0" lang="en-US" sz="1100">
                <a:solidFill>
                  <a:srgbClr val="F1F3FA"/>
                </a:solidFill>
                <a:latin typeface="Plus Jakarta Sans"/>
                <a:ea typeface="Plus Jakarta Sans"/>
                <a:cs typeface="Plus Jakarta Sans"/>
                <a:sym typeface="Plus Jakarta Sans"/>
              </a:rPr>
              <a:t>SAP</a:t>
            </a:r>
            <a:endParaRPr/>
          </a:p>
        </p:txBody>
      </p:sp>
      <p:sp>
        <p:nvSpPr>
          <p:cNvPr id="257" name="Google Shape;257;p6"/>
          <p:cNvSpPr/>
          <p:nvPr/>
        </p:nvSpPr>
        <p:spPr>
          <a:xfrm>
            <a:off x="4169663" y="5440680"/>
            <a:ext cx="1170300" cy="365700"/>
          </a:xfrm>
          <a:prstGeom prst="roundRect">
            <a:avLst>
              <a:gd fmla="val 50000" name="adj"/>
            </a:avLst>
          </a:prstGeom>
          <a:solidFill>
            <a:srgbClr val="161C2F"/>
          </a:solidFill>
          <a:ln cap="flat" cmpd="sng" w="9525">
            <a:solidFill>
              <a:srgbClr val="2A3352"/>
            </a:solidFill>
            <a:prstDash val="solid"/>
            <a:round/>
            <a:headEnd len="sm" w="sm" type="none"/>
            <a:tailEnd len="sm" w="sm" type="none"/>
          </a:ln>
        </p:spPr>
        <p:txBody>
          <a:bodyPr anchorCtr="0" anchor="ctr" bIns="38400" lIns="54850" spcFirstLastPara="1" rIns="54850" wrap="square" tIns="38400">
            <a:noAutofit/>
          </a:bodyPr>
          <a:lstStyle/>
          <a:p>
            <a:pPr indent="0" lvl="0" marL="0" marR="0" rtl="0" algn="ctr">
              <a:spcBef>
                <a:spcPts val="0"/>
              </a:spcBef>
              <a:spcAft>
                <a:spcPts val="0"/>
              </a:spcAft>
              <a:buNone/>
            </a:pPr>
            <a:r>
              <a:rPr b="0" i="0" lang="en-US" sz="1100">
                <a:solidFill>
                  <a:srgbClr val="F1F3FA"/>
                </a:solidFill>
                <a:latin typeface="Plus Jakarta Sans"/>
                <a:ea typeface="Plus Jakarta Sans"/>
                <a:cs typeface="Plus Jakarta Sans"/>
                <a:sym typeface="Plus Jakarta Sans"/>
              </a:rPr>
              <a:t>Dynamics 365</a:t>
            </a:r>
            <a:endParaRPr/>
          </a:p>
        </p:txBody>
      </p:sp>
      <p:sp>
        <p:nvSpPr>
          <p:cNvPr id="258" name="Google Shape;258;p6"/>
          <p:cNvSpPr/>
          <p:nvPr/>
        </p:nvSpPr>
        <p:spPr>
          <a:xfrm>
            <a:off x="5431536" y="5440680"/>
            <a:ext cx="1376100" cy="365700"/>
          </a:xfrm>
          <a:prstGeom prst="roundRect">
            <a:avLst>
              <a:gd fmla="val 50000" name="adj"/>
            </a:avLst>
          </a:prstGeom>
          <a:solidFill>
            <a:srgbClr val="161C2F"/>
          </a:solidFill>
          <a:ln cap="flat" cmpd="sng" w="9525">
            <a:solidFill>
              <a:srgbClr val="2A3352"/>
            </a:solidFill>
            <a:prstDash val="solid"/>
            <a:round/>
            <a:headEnd len="sm" w="sm" type="none"/>
            <a:tailEnd len="sm" w="sm" type="none"/>
          </a:ln>
        </p:spPr>
        <p:txBody>
          <a:bodyPr anchorCtr="0" anchor="ctr" bIns="38400" lIns="54850" spcFirstLastPara="1" rIns="54850" wrap="square" tIns="38400">
            <a:noAutofit/>
          </a:bodyPr>
          <a:lstStyle/>
          <a:p>
            <a:pPr indent="0" lvl="0" marL="0" marR="0" rtl="0" algn="ctr">
              <a:spcBef>
                <a:spcPts val="0"/>
              </a:spcBef>
              <a:spcAft>
                <a:spcPts val="0"/>
              </a:spcAft>
              <a:buNone/>
            </a:pPr>
            <a:r>
              <a:rPr b="0" i="0" lang="en-US" sz="1100">
                <a:solidFill>
                  <a:srgbClr val="F1F3FA"/>
                </a:solidFill>
                <a:latin typeface="Plus Jakarta Sans"/>
                <a:ea typeface="Plus Jakarta Sans"/>
                <a:cs typeface="Plus Jakarta Sans"/>
                <a:sym typeface="Plus Jakarta Sans"/>
              </a:rPr>
              <a:t>Oracle NetSuite</a:t>
            </a:r>
            <a:endParaRPr/>
          </a:p>
        </p:txBody>
      </p:sp>
      <p:sp>
        <p:nvSpPr>
          <p:cNvPr id="259" name="Google Shape;259;p6"/>
          <p:cNvSpPr/>
          <p:nvPr/>
        </p:nvSpPr>
        <p:spPr>
          <a:xfrm>
            <a:off x="6899148" y="5440680"/>
            <a:ext cx="759000" cy="365700"/>
          </a:xfrm>
          <a:prstGeom prst="roundRect">
            <a:avLst>
              <a:gd fmla="val 50000" name="adj"/>
            </a:avLst>
          </a:prstGeom>
          <a:solidFill>
            <a:srgbClr val="161C2F"/>
          </a:solidFill>
          <a:ln cap="flat" cmpd="sng" w="9525">
            <a:solidFill>
              <a:srgbClr val="2A3352"/>
            </a:solidFill>
            <a:prstDash val="solid"/>
            <a:round/>
            <a:headEnd len="sm" w="sm" type="none"/>
            <a:tailEnd len="sm" w="sm" type="none"/>
          </a:ln>
        </p:spPr>
        <p:txBody>
          <a:bodyPr anchorCtr="0" anchor="ctr" bIns="38400" lIns="54850" spcFirstLastPara="1" rIns="54850" wrap="square" tIns="38400">
            <a:noAutofit/>
          </a:bodyPr>
          <a:lstStyle/>
          <a:p>
            <a:pPr indent="0" lvl="0" marL="0" marR="0" rtl="0" algn="ctr">
              <a:spcBef>
                <a:spcPts val="0"/>
              </a:spcBef>
              <a:spcAft>
                <a:spcPts val="0"/>
              </a:spcAft>
              <a:buNone/>
            </a:pPr>
            <a:r>
              <a:rPr b="0" i="0" lang="en-US" sz="1100">
                <a:solidFill>
                  <a:srgbClr val="F1F3FA"/>
                </a:solidFill>
                <a:latin typeface="Plus Jakarta Sans"/>
                <a:ea typeface="Plus Jakarta Sans"/>
                <a:cs typeface="Plus Jakarta Sans"/>
                <a:sym typeface="Plus Jakarta Sans"/>
              </a:rPr>
              <a:t>Pohoda</a:t>
            </a:r>
            <a:endParaRPr/>
          </a:p>
        </p:txBody>
      </p:sp>
      <p:sp>
        <p:nvSpPr>
          <p:cNvPr id="260" name="Google Shape;260;p6"/>
          <p:cNvSpPr/>
          <p:nvPr/>
        </p:nvSpPr>
        <p:spPr>
          <a:xfrm>
            <a:off x="7749540" y="5440680"/>
            <a:ext cx="896100" cy="365700"/>
          </a:xfrm>
          <a:prstGeom prst="roundRect">
            <a:avLst>
              <a:gd fmla="val 50000" name="adj"/>
            </a:avLst>
          </a:prstGeom>
          <a:solidFill>
            <a:srgbClr val="161C2F"/>
          </a:solidFill>
          <a:ln cap="flat" cmpd="sng" w="9525">
            <a:solidFill>
              <a:srgbClr val="2A3352"/>
            </a:solidFill>
            <a:prstDash val="solid"/>
            <a:round/>
            <a:headEnd len="sm" w="sm" type="none"/>
            <a:tailEnd len="sm" w="sm" type="none"/>
          </a:ln>
        </p:spPr>
        <p:txBody>
          <a:bodyPr anchorCtr="0" anchor="ctr" bIns="38400" lIns="54850" spcFirstLastPara="1" rIns="54850" wrap="square" tIns="38400">
            <a:noAutofit/>
          </a:bodyPr>
          <a:lstStyle/>
          <a:p>
            <a:pPr indent="0" lvl="0" marL="0" marR="0" rtl="0" algn="ctr">
              <a:spcBef>
                <a:spcPts val="0"/>
              </a:spcBef>
              <a:spcAft>
                <a:spcPts val="0"/>
              </a:spcAft>
              <a:buNone/>
            </a:pPr>
            <a:r>
              <a:rPr b="0" i="0" lang="en-US" sz="1100">
                <a:solidFill>
                  <a:srgbClr val="F1F3FA"/>
                </a:solidFill>
                <a:latin typeface="Plus Jakarta Sans"/>
                <a:ea typeface="Plus Jakarta Sans"/>
                <a:cs typeface="Plus Jakarta Sans"/>
                <a:sym typeface="Plus Jakarta Sans"/>
              </a:rPr>
              <a:t>Money S5</a:t>
            </a:r>
            <a:endParaRPr/>
          </a:p>
        </p:txBody>
      </p:sp>
      <p:sp>
        <p:nvSpPr>
          <p:cNvPr id="261" name="Google Shape;261;p6"/>
          <p:cNvSpPr/>
          <p:nvPr/>
        </p:nvSpPr>
        <p:spPr>
          <a:xfrm>
            <a:off x="8737092" y="5440680"/>
            <a:ext cx="759000" cy="365700"/>
          </a:xfrm>
          <a:prstGeom prst="roundRect">
            <a:avLst>
              <a:gd fmla="val 50000" name="adj"/>
            </a:avLst>
          </a:prstGeom>
          <a:solidFill>
            <a:srgbClr val="161C2F"/>
          </a:solidFill>
          <a:ln cap="flat" cmpd="sng" w="9525">
            <a:solidFill>
              <a:srgbClr val="2A3352"/>
            </a:solidFill>
            <a:prstDash val="solid"/>
            <a:round/>
            <a:headEnd len="sm" w="sm" type="none"/>
            <a:tailEnd len="sm" w="sm" type="none"/>
          </a:ln>
        </p:spPr>
        <p:txBody>
          <a:bodyPr anchorCtr="0" anchor="ctr" bIns="38400" lIns="54850" spcFirstLastPara="1" rIns="54850" wrap="square" tIns="38400">
            <a:noAutofit/>
          </a:bodyPr>
          <a:lstStyle/>
          <a:p>
            <a:pPr indent="0" lvl="0" marL="0" marR="0" rtl="0" algn="ctr">
              <a:spcBef>
                <a:spcPts val="0"/>
              </a:spcBef>
              <a:spcAft>
                <a:spcPts val="0"/>
              </a:spcAft>
              <a:buNone/>
            </a:pPr>
            <a:r>
              <a:rPr b="0" i="0" lang="en-US" sz="1100">
                <a:solidFill>
                  <a:srgbClr val="F1F3FA"/>
                </a:solidFill>
                <a:latin typeface="Plus Jakarta Sans"/>
                <a:ea typeface="Plus Jakarta Sans"/>
                <a:cs typeface="Plus Jakarta Sans"/>
                <a:sym typeface="Plus Jakarta Sans"/>
              </a:rPr>
              <a:t>Helios</a:t>
            </a:r>
            <a:endParaRPr/>
          </a:p>
        </p:txBody>
      </p:sp>
      <p:sp>
        <p:nvSpPr>
          <p:cNvPr id="262" name="Google Shape;262;p6"/>
          <p:cNvSpPr/>
          <p:nvPr/>
        </p:nvSpPr>
        <p:spPr>
          <a:xfrm>
            <a:off x="9587484" y="5440680"/>
            <a:ext cx="827400" cy="365700"/>
          </a:xfrm>
          <a:prstGeom prst="roundRect">
            <a:avLst>
              <a:gd fmla="val 50000" name="adj"/>
            </a:avLst>
          </a:prstGeom>
          <a:solidFill>
            <a:srgbClr val="161C2F"/>
          </a:solidFill>
          <a:ln cap="flat" cmpd="sng" w="9525">
            <a:solidFill>
              <a:srgbClr val="2A3352"/>
            </a:solidFill>
            <a:prstDash val="solid"/>
            <a:round/>
            <a:headEnd len="sm" w="sm" type="none"/>
            <a:tailEnd len="sm" w="sm" type="none"/>
          </a:ln>
        </p:spPr>
        <p:txBody>
          <a:bodyPr anchorCtr="0" anchor="ctr" bIns="38400" lIns="54850" spcFirstLastPara="1" rIns="54850" wrap="square" tIns="38400">
            <a:noAutofit/>
          </a:bodyPr>
          <a:lstStyle/>
          <a:p>
            <a:pPr indent="0" lvl="0" marL="0" marR="0" rtl="0" algn="ctr">
              <a:spcBef>
                <a:spcPts val="0"/>
              </a:spcBef>
              <a:spcAft>
                <a:spcPts val="0"/>
              </a:spcAft>
              <a:buNone/>
            </a:pPr>
            <a:r>
              <a:rPr b="0" i="0" lang="en-US" sz="1100">
                <a:solidFill>
                  <a:srgbClr val="F1F3FA"/>
                </a:solidFill>
                <a:latin typeface="Plus Jakarta Sans"/>
                <a:ea typeface="Plus Jakarta Sans"/>
                <a:cs typeface="Plus Jakarta Sans"/>
                <a:sym typeface="Plus Jakarta Sans"/>
              </a:rPr>
              <a:t>Payroll</a:t>
            </a:r>
            <a:endParaRPr/>
          </a:p>
        </p:txBody>
      </p:sp>
      <p:sp>
        <p:nvSpPr>
          <p:cNvPr id="263" name="Google Shape;263;p6"/>
          <p:cNvSpPr txBox="1"/>
          <p:nvPr/>
        </p:nvSpPr>
        <p:spPr>
          <a:xfrm>
            <a:off x="2057400" y="5943600"/>
            <a:ext cx="9327000" cy="274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a:solidFill>
                  <a:srgbClr val="A9B0CF"/>
                </a:solidFill>
                <a:latin typeface="Plus Jakarta Sans"/>
                <a:ea typeface="Plus Jakarta Sans"/>
                <a:cs typeface="Plus Jakarta Sans"/>
                <a:sym typeface="Plus Jakarta Sans"/>
              </a:rPr>
              <a:t>Corporate cards via bank feed or open banking. Today: PDF, CSV, JSON and XML export for accounting. Direct connectors with the pilot.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268" name="Shape 268"/>
        <p:cNvGrpSpPr/>
        <p:nvPr/>
      </p:nvGrpSpPr>
      <p:grpSpPr>
        <a:xfrm>
          <a:off x="0" y="0"/>
          <a:ext cx="0" cy="0"/>
          <a:chOff x="0" y="0"/>
          <a:chExt cx="0" cy="0"/>
        </a:xfrm>
      </p:grpSpPr>
      <p:sp>
        <p:nvSpPr>
          <p:cNvPr id="269" name="Google Shape;269;h75579fc710a7a87f_0_54"/>
          <p:cNvSpPr txBox="1"/>
          <p:nvPr/>
        </p:nvSpPr>
        <p:spPr>
          <a:xfrm>
            <a:off x="758972" y="566928"/>
            <a:ext cx="5486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a:solidFill>
                  <a:srgbClr val="F2A93B"/>
                </a:solidFill>
                <a:latin typeface="Plus Jakarta Sans"/>
                <a:ea typeface="Plus Jakarta Sans"/>
                <a:cs typeface="Plus Jakarta Sans"/>
                <a:sym typeface="Plus Jakarta Sans"/>
              </a:rPr>
              <a:t>USE CASE 3</a:t>
            </a:r>
            <a:endParaRPr/>
          </a:p>
        </p:txBody>
      </p:sp>
      <p:sp>
        <p:nvSpPr>
          <p:cNvPr id="270" name="Google Shape;270;h75579fc710a7a87f_0_54"/>
          <p:cNvSpPr txBox="1"/>
          <p:nvPr/>
        </p:nvSpPr>
        <p:spPr>
          <a:xfrm>
            <a:off x="6858183" y="566928"/>
            <a:ext cx="4572000" cy="1617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50">
                <a:solidFill>
                  <a:srgbClr val="A9B0CF"/>
                </a:solidFill>
                <a:latin typeface="Plus Jakarta Sans"/>
                <a:ea typeface="Plus Jakarta Sans"/>
                <a:cs typeface="Plus Jakarta Sans"/>
                <a:sym typeface="Plus Jakarta Sans"/>
              </a:rPr>
              <a:t>CARD + RECEIPTS</a:t>
            </a:r>
            <a:endParaRPr/>
          </a:p>
        </p:txBody>
      </p:sp>
      <p:sp>
        <p:nvSpPr>
          <p:cNvPr id="271" name="Google Shape;271;h75579fc710a7a87f_0_54"/>
          <p:cNvSpPr txBox="1"/>
          <p:nvPr/>
        </p:nvSpPr>
        <p:spPr>
          <a:xfrm>
            <a:off x="758972" y="960120"/>
            <a:ext cx="10671300" cy="384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00">
                <a:solidFill>
                  <a:srgbClr val="F1F3FA"/>
                </a:solidFill>
                <a:latin typeface="Plus Jakarta Sans"/>
                <a:ea typeface="Plus Jakarta Sans"/>
                <a:cs typeface="Plus Jakarta Sans"/>
                <a:sym typeface="Plus Jakarta Sans"/>
              </a:rPr>
              <a:t>Employee pays with a corporate card and submits receipts</a:t>
            </a:r>
            <a:endParaRPr/>
          </a:p>
        </p:txBody>
      </p:sp>
      <p:sp>
        <p:nvSpPr>
          <p:cNvPr id="272" name="Google Shape;272;h75579fc710a7a87f_0_54"/>
          <p:cNvSpPr/>
          <p:nvPr/>
        </p:nvSpPr>
        <p:spPr>
          <a:xfrm>
            <a:off x="758972" y="2057400"/>
            <a:ext cx="5106900" cy="3566100"/>
          </a:xfrm>
          <a:prstGeom prst="roundRect">
            <a:avLst>
              <a:gd fmla="val 6000" name="adj"/>
            </a:avLst>
          </a:prstGeom>
          <a:solidFill>
            <a:srgbClr val="161C2F"/>
          </a:solidFill>
          <a:ln cap="flat" cmpd="sng" w="12700">
            <a:solidFill>
              <a:srgbClr val="2A33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h75579fc710a7a87f_0_54"/>
          <p:cNvSpPr/>
          <p:nvPr/>
        </p:nvSpPr>
        <p:spPr>
          <a:xfrm>
            <a:off x="1033299" y="2331720"/>
            <a:ext cx="567000" cy="567000"/>
          </a:xfrm>
          <a:prstGeom prst="ellipse">
            <a:avLst/>
          </a:prstGeom>
          <a:solidFill>
            <a:srgbClr val="2A221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warn.png" id="274" name="Google Shape;274;h75579fc710a7a87f_0_54"/>
          <p:cNvPicPr preferRelativeResize="0"/>
          <p:nvPr/>
        </p:nvPicPr>
        <p:blipFill rotWithShape="1">
          <a:blip r:embed="rId3">
            <a:alphaModFix/>
          </a:blip>
          <a:srcRect b="0" l="0" r="0" t="0"/>
          <a:stretch/>
        </p:blipFill>
        <p:spPr>
          <a:xfrm>
            <a:off x="1186374" y="2484790"/>
            <a:ext cx="260786" cy="260786"/>
          </a:xfrm>
          <a:prstGeom prst="rect">
            <a:avLst/>
          </a:prstGeom>
          <a:noFill/>
          <a:ln>
            <a:noFill/>
          </a:ln>
        </p:spPr>
      </p:pic>
      <p:sp>
        <p:nvSpPr>
          <p:cNvPr id="275" name="Google Shape;275;h75579fc710a7a87f_0_54"/>
          <p:cNvSpPr txBox="1"/>
          <p:nvPr/>
        </p:nvSpPr>
        <p:spPr>
          <a:xfrm>
            <a:off x="1746551" y="2432304"/>
            <a:ext cx="3918300" cy="2001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300">
                <a:solidFill>
                  <a:srgbClr val="F2A93B"/>
                </a:solidFill>
                <a:latin typeface="Plus Jakarta Sans"/>
                <a:ea typeface="Plus Jakarta Sans"/>
                <a:cs typeface="Plus Jakarta Sans"/>
                <a:sym typeface="Plus Jakarta Sans"/>
              </a:rPr>
              <a:t>PAIN POINT</a:t>
            </a:r>
            <a:endParaRPr/>
          </a:p>
        </p:txBody>
      </p:sp>
      <p:sp>
        <p:nvSpPr>
          <p:cNvPr id="276" name="Google Shape;276;h75579fc710a7a87f_0_54"/>
          <p:cNvSpPr txBox="1"/>
          <p:nvPr/>
        </p:nvSpPr>
        <p:spPr>
          <a:xfrm>
            <a:off x="1051588" y="3200400"/>
            <a:ext cx="45582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F2A93B"/>
                </a:solidFill>
                <a:latin typeface="Plus Jakarta Sans"/>
                <a:ea typeface="Plus Jakarta Sans"/>
                <a:cs typeface="Plus Jakarta Sans"/>
                <a:sym typeface="Plus Jakarta Sans"/>
              </a:rPr>
              <a:t>•  </a:t>
            </a:r>
            <a:r>
              <a:rPr b="0" i="0" lang="en-US" sz="1500">
                <a:solidFill>
                  <a:srgbClr val="F1F3FA"/>
                </a:solidFill>
                <a:latin typeface="Plus Jakarta Sans"/>
                <a:ea typeface="Plus Jakarta Sans"/>
                <a:cs typeface="Plus Jakarta Sans"/>
                <a:sym typeface="Plus Jakarta Sans"/>
              </a:rPr>
              <a:t>Invoices must be cross-checked with card transactions</a:t>
            </a:r>
            <a:endParaRPr/>
          </a:p>
        </p:txBody>
      </p:sp>
      <p:sp>
        <p:nvSpPr>
          <p:cNvPr id="277" name="Google Shape;277;h75579fc710a7a87f_0_54"/>
          <p:cNvSpPr txBox="1"/>
          <p:nvPr/>
        </p:nvSpPr>
        <p:spPr>
          <a:xfrm>
            <a:off x="1051588" y="3977639"/>
            <a:ext cx="45582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F2A93B"/>
                </a:solidFill>
                <a:latin typeface="Plus Jakarta Sans"/>
                <a:ea typeface="Plus Jakarta Sans"/>
                <a:cs typeface="Plus Jakarta Sans"/>
                <a:sym typeface="Plus Jakarta Sans"/>
              </a:rPr>
              <a:t>•  </a:t>
            </a:r>
            <a:r>
              <a:rPr b="0" i="0" lang="en-US" sz="1500">
                <a:solidFill>
                  <a:srgbClr val="F1F3FA"/>
                </a:solidFill>
                <a:latin typeface="Plus Jakarta Sans"/>
                <a:ea typeface="Plus Jakarta Sans"/>
                <a:cs typeface="Plus Jakarta Sans"/>
                <a:sym typeface="Plus Jakarta Sans"/>
              </a:rPr>
              <a:t>Structured card data meets free-form receipts</a:t>
            </a:r>
            <a:endParaRPr/>
          </a:p>
        </p:txBody>
      </p:sp>
      <p:cxnSp>
        <p:nvCxnSpPr>
          <p:cNvPr id="278" name="Google Shape;278;h75579fc710a7a87f_0_54"/>
          <p:cNvCxnSpPr/>
          <p:nvPr/>
        </p:nvCxnSpPr>
        <p:spPr>
          <a:xfrm>
            <a:off x="5939186" y="3840480"/>
            <a:ext cx="310800" cy="0"/>
          </a:xfrm>
          <a:prstGeom prst="straightConnector1">
            <a:avLst/>
          </a:prstGeom>
          <a:noFill/>
          <a:ln cap="flat" cmpd="sng" w="31750">
            <a:solidFill>
              <a:srgbClr val="7C82EE"/>
            </a:solidFill>
            <a:prstDash val="solid"/>
            <a:round/>
            <a:headEnd len="sm" w="sm" type="none"/>
            <a:tailEnd len="med" w="med" type="triangle"/>
          </a:ln>
          <a:effectLst>
            <a:outerShdw blurRad="40000" rotWithShape="0" dir="5400000" dist="20000">
              <a:srgbClr val="000000">
                <a:alpha val="38040"/>
              </a:srgbClr>
            </a:outerShdw>
          </a:effectLst>
        </p:spPr>
      </p:cxnSp>
      <p:sp>
        <p:nvSpPr>
          <p:cNvPr id="279" name="Google Shape;279;h75579fc710a7a87f_0_54"/>
          <p:cNvSpPr/>
          <p:nvPr/>
        </p:nvSpPr>
        <p:spPr>
          <a:xfrm>
            <a:off x="6323245" y="2057400"/>
            <a:ext cx="5106900" cy="3566100"/>
          </a:xfrm>
          <a:prstGeom prst="roundRect">
            <a:avLst>
              <a:gd fmla="val 6000" name="adj"/>
            </a:avLst>
          </a:prstGeom>
          <a:solidFill>
            <a:srgbClr val="1E2463"/>
          </a:solidFill>
          <a:ln cap="flat" cmpd="sng" w="12700">
            <a:solidFill>
              <a:srgbClr val="6A70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h75579fc710a7a87f_0_54"/>
          <p:cNvSpPr/>
          <p:nvPr/>
        </p:nvSpPr>
        <p:spPr>
          <a:xfrm>
            <a:off x="6597572" y="2331720"/>
            <a:ext cx="567000" cy="567000"/>
          </a:xfrm>
          <a:prstGeom prst="ellipse">
            <a:avLst/>
          </a:prstGeom>
          <a:solidFill>
            <a:srgbClr val="6A70E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bolt.png" id="281" name="Google Shape;281;h75579fc710a7a87f_0_54"/>
          <p:cNvPicPr preferRelativeResize="0"/>
          <p:nvPr/>
        </p:nvPicPr>
        <p:blipFill rotWithShape="1">
          <a:blip r:embed="rId4">
            <a:alphaModFix/>
          </a:blip>
          <a:srcRect b="0" l="0" r="0" t="0"/>
          <a:stretch/>
        </p:blipFill>
        <p:spPr>
          <a:xfrm>
            <a:off x="6750646" y="2484790"/>
            <a:ext cx="260786" cy="260786"/>
          </a:xfrm>
          <a:prstGeom prst="rect">
            <a:avLst/>
          </a:prstGeom>
          <a:noFill/>
          <a:ln>
            <a:noFill/>
          </a:ln>
        </p:spPr>
      </p:pic>
      <p:sp>
        <p:nvSpPr>
          <p:cNvPr id="282" name="Google Shape;282;h75579fc710a7a87f_0_54"/>
          <p:cNvSpPr txBox="1"/>
          <p:nvPr/>
        </p:nvSpPr>
        <p:spPr>
          <a:xfrm>
            <a:off x="7310823" y="2432304"/>
            <a:ext cx="3918300" cy="2001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300">
                <a:solidFill>
                  <a:srgbClr val="7C82EE"/>
                </a:solidFill>
                <a:latin typeface="Plus Jakarta Sans"/>
                <a:ea typeface="Plus Jakarta Sans"/>
                <a:cs typeface="Plus Jakarta Sans"/>
                <a:sym typeface="Plus Jakarta Sans"/>
              </a:rPr>
              <a:t>SOLUTION</a:t>
            </a:r>
            <a:endParaRPr/>
          </a:p>
        </p:txBody>
      </p:sp>
      <p:sp>
        <p:nvSpPr>
          <p:cNvPr id="283" name="Google Shape;283;h75579fc710a7a87f_0_54"/>
          <p:cNvSpPr txBox="1"/>
          <p:nvPr/>
        </p:nvSpPr>
        <p:spPr>
          <a:xfrm>
            <a:off x="6615860" y="3200400"/>
            <a:ext cx="45582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7C82EE"/>
                </a:solidFill>
                <a:latin typeface="Plus Jakarta Sans"/>
                <a:ea typeface="Plus Jakarta Sans"/>
                <a:cs typeface="Plus Jakarta Sans"/>
                <a:sym typeface="Plus Jakarta Sans"/>
              </a:rPr>
              <a:t>•  </a:t>
            </a:r>
            <a:r>
              <a:rPr b="1" i="0" lang="en-US" sz="1500">
                <a:solidFill>
                  <a:srgbClr val="F1F3FA"/>
                </a:solidFill>
                <a:latin typeface="Plus Jakarta Sans"/>
                <a:ea typeface="Plus Jakarta Sans"/>
                <a:cs typeface="Plus Jakarta Sans"/>
                <a:sym typeface="Plus Jakarta Sans"/>
              </a:rPr>
              <a:t>AI vision </a:t>
            </a:r>
            <a:r>
              <a:rPr b="0" i="0" lang="en-US" sz="1500">
                <a:solidFill>
                  <a:srgbClr val="F1F3FA"/>
                </a:solidFill>
                <a:latin typeface="Plus Jakarta Sans"/>
                <a:ea typeface="Plus Jakarta Sans"/>
                <a:cs typeface="Plus Jakarta Sans"/>
                <a:sym typeface="Plus Jakarta Sans"/>
              </a:rPr>
              <a:t>and OCR extract the invoice data</a:t>
            </a:r>
            <a:endParaRPr/>
          </a:p>
        </p:txBody>
      </p:sp>
      <p:sp>
        <p:nvSpPr>
          <p:cNvPr id="284" name="Google Shape;284;h75579fc710a7a87f_0_54"/>
          <p:cNvSpPr txBox="1"/>
          <p:nvPr/>
        </p:nvSpPr>
        <p:spPr>
          <a:xfrm>
            <a:off x="6615860" y="3977639"/>
            <a:ext cx="45582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7C82EE"/>
                </a:solidFill>
                <a:latin typeface="Plus Jakarta Sans"/>
                <a:ea typeface="Plus Jakarta Sans"/>
                <a:cs typeface="Plus Jakarta Sans"/>
                <a:sym typeface="Plus Jakarta Sans"/>
              </a:rPr>
              <a:t>•  </a:t>
            </a:r>
            <a:r>
              <a:rPr b="0" i="0" lang="en-US" sz="1500">
                <a:solidFill>
                  <a:srgbClr val="F1F3FA"/>
                </a:solidFill>
                <a:latin typeface="Plus Jakarta Sans"/>
                <a:ea typeface="Plus Jakarta Sans"/>
                <a:cs typeface="Plus Jakarta Sans"/>
                <a:sym typeface="Plus Jakarta Sans"/>
              </a:rPr>
              <a:t>AI matches each invoice to its card transaction and enriches it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289" name="Shape 289"/>
        <p:cNvGrpSpPr/>
        <p:nvPr/>
      </p:nvGrpSpPr>
      <p:grpSpPr>
        <a:xfrm>
          <a:off x="0" y="0"/>
          <a:ext cx="0" cy="0"/>
          <a:chOff x="0" y="0"/>
          <a:chExt cx="0" cy="0"/>
        </a:xfrm>
      </p:grpSpPr>
      <p:sp>
        <p:nvSpPr>
          <p:cNvPr id="290" name="Google Shape;290;h18d92c90695434c9_2_57"/>
          <p:cNvSpPr txBox="1"/>
          <p:nvPr/>
        </p:nvSpPr>
        <p:spPr>
          <a:xfrm>
            <a:off x="758972" y="566928"/>
            <a:ext cx="5486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a:solidFill>
                  <a:srgbClr val="F2A93B"/>
                </a:solidFill>
                <a:latin typeface="Plus Jakarta Sans"/>
                <a:ea typeface="Plus Jakarta Sans"/>
                <a:cs typeface="Plus Jakarta Sans"/>
                <a:sym typeface="Plus Jakarta Sans"/>
              </a:rPr>
              <a:t>USE CASE 3</a:t>
            </a:r>
            <a:endParaRPr/>
          </a:p>
        </p:txBody>
      </p:sp>
      <p:sp>
        <p:nvSpPr>
          <p:cNvPr id="291" name="Google Shape;291;h18d92c90695434c9_2_57"/>
          <p:cNvSpPr txBox="1"/>
          <p:nvPr/>
        </p:nvSpPr>
        <p:spPr>
          <a:xfrm>
            <a:off x="6858183" y="566928"/>
            <a:ext cx="4572000" cy="1617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50">
                <a:solidFill>
                  <a:srgbClr val="A9B0CF"/>
                </a:solidFill>
                <a:latin typeface="Plus Jakarta Sans"/>
                <a:ea typeface="Plus Jakarta Sans"/>
                <a:cs typeface="Plus Jakarta Sans"/>
                <a:sym typeface="Plus Jakarta Sans"/>
              </a:rPr>
              <a:t>CARD + RECEIPTS</a:t>
            </a:r>
            <a:endParaRPr/>
          </a:p>
        </p:txBody>
      </p:sp>
      <p:pic>
        <p:nvPicPr>
          <p:cNvPr id="292" name="Google Shape;292;h18d92c90695434c9_2_57" title="003 Use Case Three - Matching Invoices to Transactions - recording_whZ3BTZxrVrZRhD1Pax5-3.mp4">
            <a:hlinkClick r:id="rId3"/>
          </p:cNvPr>
          <p:cNvPicPr preferRelativeResize="0"/>
          <p:nvPr/>
        </p:nvPicPr>
        <p:blipFill>
          <a:blip r:embed="rId4">
            <a:alphaModFix/>
          </a:blip>
          <a:stretch>
            <a:fillRect/>
          </a:stretch>
        </p:blipFill>
        <p:spPr>
          <a:xfrm>
            <a:off x="723225" y="679325"/>
            <a:ext cx="10745549" cy="604437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1000"/>
                                        <p:tgtEl>
                                          <p:spTgt spid="2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B1220"/>
        </a:solidFill>
      </p:bgPr>
    </p:bg>
    <p:spTree>
      <p:nvGrpSpPr>
        <p:cNvPr id="297" name="Shape 297"/>
        <p:cNvGrpSpPr/>
        <p:nvPr/>
      </p:nvGrpSpPr>
      <p:grpSpPr>
        <a:xfrm>
          <a:off x="0" y="0"/>
          <a:ext cx="0" cy="0"/>
          <a:chOff x="0" y="0"/>
          <a:chExt cx="0" cy="0"/>
        </a:xfrm>
      </p:grpSpPr>
      <p:sp>
        <p:nvSpPr>
          <p:cNvPr id="298" name="Google Shape;298;p4"/>
          <p:cNvSpPr txBox="1"/>
          <p:nvPr/>
        </p:nvSpPr>
        <p:spPr>
          <a:xfrm>
            <a:off x="762000" y="1009650"/>
            <a:ext cx="1060704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400" u="none">
                <a:solidFill>
                  <a:srgbClr val="F1F3FA"/>
                </a:solidFill>
                <a:latin typeface="Plus Jakarta Sans"/>
                <a:ea typeface="Plus Jakarta Sans"/>
                <a:cs typeface="Plus Jakarta Sans"/>
                <a:sym typeface="Plus Jakarta Sans"/>
              </a:rPr>
              <a:t>Say it. Snap it. Get paid.</a:t>
            </a:r>
            <a:endParaRPr/>
          </a:p>
        </p:txBody>
      </p:sp>
      <p:sp>
        <p:nvSpPr>
          <p:cNvPr id="299" name="Google Shape;299;p4"/>
          <p:cNvSpPr txBox="1"/>
          <p:nvPr/>
        </p:nvSpPr>
        <p:spPr>
          <a:xfrm>
            <a:off x="8060531" y="609600"/>
            <a:ext cx="3657600"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50" u="none">
                <a:solidFill>
                  <a:srgbClr val="A9B0CF"/>
                </a:solidFill>
                <a:latin typeface="Space Grotesk"/>
                <a:ea typeface="Space Grotesk"/>
                <a:cs typeface="Space Grotesk"/>
                <a:sym typeface="Space Grotesk"/>
              </a:rPr>
              <a:t>THE AGENT</a:t>
            </a:r>
            <a:endParaRPr/>
          </a:p>
        </p:txBody>
      </p:sp>
      <p:sp>
        <p:nvSpPr>
          <p:cNvPr id="300" name="Google Shape;300;p4"/>
          <p:cNvSpPr/>
          <p:nvPr/>
        </p:nvSpPr>
        <p:spPr>
          <a:xfrm>
            <a:off x="868680" y="1783080"/>
            <a:ext cx="3017520" cy="3657600"/>
          </a:xfrm>
          <a:prstGeom prst="roundRect">
            <a:avLst>
              <a:gd fmla="val 12000" name="adj"/>
            </a:avLst>
          </a:prstGeom>
          <a:solidFill>
            <a:srgbClr val="161C2F"/>
          </a:solidFill>
          <a:ln cap="flat" cmpd="sng" w="19050">
            <a:solidFill>
              <a:srgbClr val="3A43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4"/>
          <p:cNvSpPr/>
          <p:nvPr/>
        </p:nvSpPr>
        <p:spPr>
          <a:xfrm>
            <a:off x="2011679" y="1920240"/>
            <a:ext cx="731520" cy="91440"/>
          </a:xfrm>
          <a:prstGeom prst="roundRect">
            <a:avLst>
              <a:gd fmla="val 50000" name="adj"/>
            </a:avLst>
          </a:prstGeom>
          <a:solidFill>
            <a:srgbClr val="3A436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4"/>
          <p:cNvSpPr/>
          <p:nvPr/>
        </p:nvSpPr>
        <p:spPr>
          <a:xfrm>
            <a:off x="1920239" y="2331720"/>
            <a:ext cx="914400" cy="914400"/>
          </a:xfrm>
          <a:prstGeom prst="ellipse">
            <a:avLst/>
          </a:prstGeom>
          <a:solidFill>
            <a:srgbClr val="6A70E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mic.png" id="303" name="Google Shape;303;p4"/>
          <p:cNvPicPr preferRelativeResize="0"/>
          <p:nvPr/>
        </p:nvPicPr>
        <p:blipFill rotWithShape="1">
          <a:blip r:embed="rId3">
            <a:alphaModFix/>
          </a:blip>
          <a:srcRect b="0" l="0" r="0" t="0"/>
          <a:stretch/>
        </p:blipFill>
        <p:spPr>
          <a:xfrm>
            <a:off x="2167127" y="2578608"/>
            <a:ext cx="420624" cy="420624"/>
          </a:xfrm>
          <a:prstGeom prst="rect">
            <a:avLst/>
          </a:prstGeom>
          <a:noFill/>
          <a:ln>
            <a:noFill/>
          </a:ln>
        </p:spPr>
      </p:pic>
      <p:sp>
        <p:nvSpPr>
          <p:cNvPr id="304" name="Google Shape;304;p4"/>
          <p:cNvSpPr/>
          <p:nvPr/>
        </p:nvSpPr>
        <p:spPr>
          <a:xfrm>
            <a:off x="1097280" y="3520439"/>
            <a:ext cx="2560320" cy="705358"/>
          </a:xfrm>
          <a:prstGeom prst="roundRect">
            <a:avLst>
              <a:gd fmla="val 30000" name="adj"/>
            </a:avLst>
          </a:prstGeom>
          <a:solidFill>
            <a:srgbClr val="6A70E0"/>
          </a:solidFill>
          <a:ln>
            <a:noFill/>
          </a:ln>
        </p:spPr>
        <p:txBody>
          <a:bodyPr anchorCtr="0" anchor="ctr" bIns="115200" lIns="164575" spcFirstLastPara="1" rIns="164575" wrap="square" tIns="115200">
            <a:noAutofit/>
          </a:bodyPr>
          <a:lstStyle/>
          <a:p>
            <a:pPr indent="0" lvl="0" marL="0" marR="0" rtl="0" algn="l">
              <a:spcBef>
                <a:spcPts val="0"/>
              </a:spcBef>
              <a:spcAft>
                <a:spcPts val="0"/>
              </a:spcAft>
              <a:buNone/>
            </a:pPr>
            <a:r>
              <a:rPr b="0" i="0" lang="en-US" sz="1300">
                <a:solidFill>
                  <a:srgbClr val="FFFFFF"/>
                </a:solidFill>
                <a:latin typeface="Plus Jakarta Sans"/>
                <a:ea typeface="Plus Jakarta Sans"/>
                <a:cs typeface="Plus Jakarta Sans"/>
                <a:sym typeface="Plus Jakarta Sans"/>
              </a:rPr>
              <a:t>Prague to Munich, Monday to Wednesday.</a:t>
            </a:r>
            <a:endParaRPr/>
          </a:p>
        </p:txBody>
      </p:sp>
      <p:sp>
        <p:nvSpPr>
          <p:cNvPr id="305" name="Google Shape;305;p4"/>
          <p:cNvSpPr/>
          <p:nvPr/>
        </p:nvSpPr>
        <p:spPr>
          <a:xfrm>
            <a:off x="4590288" y="1783080"/>
            <a:ext cx="3017520" cy="3657600"/>
          </a:xfrm>
          <a:prstGeom prst="roundRect">
            <a:avLst>
              <a:gd fmla="val 12000" name="adj"/>
            </a:avLst>
          </a:prstGeom>
          <a:solidFill>
            <a:srgbClr val="161C2F"/>
          </a:solidFill>
          <a:ln cap="flat" cmpd="sng" w="19050">
            <a:solidFill>
              <a:srgbClr val="3A43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4"/>
          <p:cNvSpPr/>
          <p:nvPr/>
        </p:nvSpPr>
        <p:spPr>
          <a:xfrm>
            <a:off x="5733288" y="1920240"/>
            <a:ext cx="731520" cy="91440"/>
          </a:xfrm>
          <a:prstGeom prst="roundRect">
            <a:avLst>
              <a:gd fmla="val 50000" name="adj"/>
            </a:avLst>
          </a:prstGeom>
          <a:solidFill>
            <a:srgbClr val="3A436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4"/>
          <p:cNvSpPr/>
          <p:nvPr/>
        </p:nvSpPr>
        <p:spPr>
          <a:xfrm>
            <a:off x="5276088" y="2286000"/>
            <a:ext cx="1645920" cy="1920240"/>
          </a:xfrm>
          <a:prstGeom prst="rect">
            <a:avLst/>
          </a:prstGeom>
          <a:solidFill>
            <a:srgbClr val="F1F3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4"/>
          <p:cNvSpPr txBox="1"/>
          <p:nvPr/>
        </p:nvSpPr>
        <p:spPr>
          <a:xfrm>
            <a:off x="5413248" y="2423160"/>
            <a:ext cx="13716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00">
                <a:solidFill>
                  <a:srgbClr val="0B1220"/>
                </a:solidFill>
                <a:latin typeface="Plus Jakarta Sans"/>
                <a:ea typeface="Plus Jakarta Sans"/>
                <a:cs typeface="Plus Jakarta Sans"/>
                <a:sym typeface="Plus Jakarta Sans"/>
              </a:rPr>
              <a:t>RECEIPT</a:t>
            </a:r>
            <a:endParaRPr/>
          </a:p>
        </p:txBody>
      </p:sp>
      <p:sp>
        <p:nvSpPr>
          <p:cNvPr id="309" name="Google Shape;309;p4"/>
          <p:cNvSpPr/>
          <p:nvPr/>
        </p:nvSpPr>
        <p:spPr>
          <a:xfrm>
            <a:off x="5413248" y="2743200"/>
            <a:ext cx="1371600" cy="64008"/>
          </a:xfrm>
          <a:prstGeom prst="rect">
            <a:avLst/>
          </a:prstGeom>
          <a:solidFill>
            <a:srgbClr val="CBD0E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4"/>
          <p:cNvSpPr/>
          <p:nvPr/>
        </p:nvSpPr>
        <p:spPr>
          <a:xfrm>
            <a:off x="5413248" y="2971800"/>
            <a:ext cx="1005840" cy="64008"/>
          </a:xfrm>
          <a:prstGeom prst="rect">
            <a:avLst/>
          </a:prstGeom>
          <a:solidFill>
            <a:srgbClr val="CBD0E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4"/>
          <p:cNvSpPr/>
          <p:nvPr/>
        </p:nvSpPr>
        <p:spPr>
          <a:xfrm>
            <a:off x="5413248" y="3200400"/>
            <a:ext cx="1371600" cy="64008"/>
          </a:xfrm>
          <a:prstGeom prst="rect">
            <a:avLst/>
          </a:prstGeom>
          <a:solidFill>
            <a:srgbClr val="CBD0E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4"/>
          <p:cNvSpPr/>
          <p:nvPr/>
        </p:nvSpPr>
        <p:spPr>
          <a:xfrm>
            <a:off x="5413248" y="3429000"/>
            <a:ext cx="1005840" cy="64008"/>
          </a:xfrm>
          <a:prstGeom prst="rect">
            <a:avLst/>
          </a:prstGeom>
          <a:solidFill>
            <a:srgbClr val="CBD0E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4"/>
          <p:cNvSpPr/>
          <p:nvPr/>
        </p:nvSpPr>
        <p:spPr>
          <a:xfrm>
            <a:off x="5413248" y="3657600"/>
            <a:ext cx="1371600" cy="64008"/>
          </a:xfrm>
          <a:prstGeom prst="rect">
            <a:avLst/>
          </a:prstGeom>
          <a:solidFill>
            <a:srgbClr val="CBD0E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4"/>
          <p:cNvSpPr/>
          <p:nvPr/>
        </p:nvSpPr>
        <p:spPr>
          <a:xfrm>
            <a:off x="6556248" y="3840480"/>
            <a:ext cx="640080" cy="640080"/>
          </a:xfrm>
          <a:prstGeom prst="ellipse">
            <a:avLst/>
          </a:prstGeom>
          <a:solidFill>
            <a:srgbClr val="6A70E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camera.png" id="315" name="Google Shape;315;p4"/>
          <p:cNvPicPr preferRelativeResize="0"/>
          <p:nvPr/>
        </p:nvPicPr>
        <p:blipFill rotWithShape="1">
          <a:blip r:embed="rId4">
            <a:alphaModFix/>
          </a:blip>
          <a:srcRect b="0" l="0" r="0" t="0"/>
          <a:stretch/>
        </p:blipFill>
        <p:spPr>
          <a:xfrm>
            <a:off x="6729069" y="4013301"/>
            <a:ext cx="294436" cy="294436"/>
          </a:xfrm>
          <a:prstGeom prst="rect">
            <a:avLst/>
          </a:prstGeom>
          <a:noFill/>
          <a:ln>
            <a:noFill/>
          </a:ln>
        </p:spPr>
      </p:pic>
      <p:sp>
        <p:nvSpPr>
          <p:cNvPr id="316" name="Google Shape;316;p4"/>
          <p:cNvSpPr/>
          <p:nvPr/>
        </p:nvSpPr>
        <p:spPr>
          <a:xfrm>
            <a:off x="4818888" y="4663440"/>
            <a:ext cx="2560320" cy="640080"/>
          </a:xfrm>
          <a:prstGeom prst="roundRect">
            <a:avLst>
              <a:gd fmla="val 6000" name="adj"/>
            </a:avLst>
          </a:prstGeom>
          <a:solidFill>
            <a:srgbClr val="0F2A24"/>
          </a:solidFill>
          <a:ln cap="flat" cmpd="sng" w="9525">
            <a:solidFill>
              <a:srgbClr val="2F8F6E"/>
            </a:solidFill>
            <a:prstDash val="solid"/>
            <a:round/>
            <a:headEnd len="sm" w="sm" type="none"/>
            <a:tailEnd len="sm" w="sm" type="none"/>
          </a:ln>
        </p:spPr>
        <p:txBody>
          <a:bodyPr anchorCtr="0" anchor="ctr" bIns="76800" lIns="109725" spcFirstLastPara="1" rIns="109725" wrap="square" tIns="76800">
            <a:noAutofit/>
          </a:bodyPr>
          <a:lstStyle/>
          <a:p>
            <a:pPr indent="0" lvl="0" marL="0" marR="0" rtl="0" algn="l">
              <a:spcBef>
                <a:spcPts val="0"/>
              </a:spcBef>
              <a:spcAft>
                <a:spcPts val="0"/>
              </a:spcAft>
              <a:buNone/>
            </a:pPr>
            <a:r>
              <a:rPr b="1" i="0" lang="en-US" sz="1200">
                <a:solidFill>
                  <a:srgbClr val="3FC79A"/>
                </a:solidFill>
                <a:latin typeface="Plus Jakarta Sans"/>
                <a:ea typeface="Plus Jakarta Sans"/>
                <a:cs typeface="Plus Jakarta Sans"/>
                <a:sym typeface="Plus Jakarta Sans"/>
              </a:rPr>
              <a:t>✓  </a:t>
            </a:r>
            <a:r>
              <a:rPr b="1" i="0" lang="en-US" sz="1200">
                <a:solidFill>
                  <a:srgbClr val="F1F3FA"/>
                </a:solidFill>
                <a:latin typeface="Plus Jakarta Sans"/>
                <a:ea typeface="Plus Jakarta Sans"/>
                <a:cs typeface="Plus Jakarta Sans"/>
                <a:sym typeface="Plus Jakarta Sans"/>
              </a:rPr>
              <a:t>Matched to card payment</a:t>
            </a:r>
            <a:endParaRPr/>
          </a:p>
        </p:txBody>
      </p:sp>
      <p:sp>
        <p:nvSpPr>
          <p:cNvPr id="317" name="Google Shape;317;p4"/>
          <p:cNvSpPr/>
          <p:nvPr/>
        </p:nvSpPr>
        <p:spPr>
          <a:xfrm>
            <a:off x="8311896" y="1783080"/>
            <a:ext cx="3017520" cy="3657600"/>
          </a:xfrm>
          <a:prstGeom prst="roundRect">
            <a:avLst>
              <a:gd fmla="val 12000" name="adj"/>
            </a:avLst>
          </a:prstGeom>
          <a:solidFill>
            <a:srgbClr val="161C2F"/>
          </a:solidFill>
          <a:ln cap="flat" cmpd="sng" w="19050">
            <a:solidFill>
              <a:srgbClr val="3A43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8" name="Google Shape;318;p4"/>
          <p:cNvSpPr/>
          <p:nvPr/>
        </p:nvSpPr>
        <p:spPr>
          <a:xfrm>
            <a:off x="9454896" y="1920240"/>
            <a:ext cx="731520" cy="91440"/>
          </a:xfrm>
          <a:prstGeom prst="roundRect">
            <a:avLst>
              <a:gd fmla="val 50000" name="adj"/>
            </a:avLst>
          </a:prstGeom>
          <a:solidFill>
            <a:srgbClr val="3A436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4"/>
          <p:cNvSpPr/>
          <p:nvPr/>
        </p:nvSpPr>
        <p:spPr>
          <a:xfrm>
            <a:off x="9363456" y="2331720"/>
            <a:ext cx="914400" cy="914400"/>
          </a:xfrm>
          <a:prstGeom prst="ellipse">
            <a:avLst/>
          </a:prstGeom>
          <a:solidFill>
            <a:srgbClr val="3FC79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check.png" id="320" name="Google Shape;320;p4"/>
          <p:cNvPicPr preferRelativeResize="0"/>
          <p:nvPr/>
        </p:nvPicPr>
        <p:blipFill rotWithShape="1">
          <a:blip r:embed="rId5">
            <a:alphaModFix/>
          </a:blip>
          <a:srcRect b="0" l="0" r="0" t="0"/>
          <a:stretch/>
        </p:blipFill>
        <p:spPr>
          <a:xfrm>
            <a:off x="9610344" y="2578608"/>
            <a:ext cx="420624" cy="420624"/>
          </a:xfrm>
          <a:prstGeom prst="rect">
            <a:avLst/>
          </a:prstGeom>
          <a:noFill/>
          <a:ln>
            <a:noFill/>
          </a:ln>
        </p:spPr>
      </p:pic>
      <p:sp>
        <p:nvSpPr>
          <p:cNvPr id="321" name="Google Shape;321;p4"/>
          <p:cNvSpPr/>
          <p:nvPr/>
        </p:nvSpPr>
        <p:spPr>
          <a:xfrm>
            <a:off x="8540496" y="3520439"/>
            <a:ext cx="2560320" cy="914400"/>
          </a:xfrm>
          <a:prstGeom prst="roundRect">
            <a:avLst>
              <a:gd fmla="val 6000" name="adj"/>
            </a:avLst>
          </a:prstGeom>
          <a:solidFill>
            <a:srgbClr val="0F2A24"/>
          </a:solidFill>
          <a:ln cap="flat" cmpd="sng" w="9525">
            <a:solidFill>
              <a:srgbClr val="2F8F6E"/>
            </a:solidFill>
            <a:prstDash val="solid"/>
            <a:round/>
            <a:headEnd len="sm" w="sm" type="none"/>
            <a:tailEnd len="sm" w="sm" type="none"/>
          </a:ln>
        </p:spPr>
        <p:txBody>
          <a:bodyPr anchorCtr="0" anchor="ctr" bIns="76800" lIns="109725" spcFirstLastPara="1" rIns="109725" wrap="square" tIns="76800">
            <a:noAutofit/>
          </a:bodyPr>
          <a:lstStyle/>
          <a:p>
            <a:pPr indent="0" lvl="0" marL="0" marR="0" rtl="0" algn="ctr">
              <a:spcBef>
                <a:spcPts val="0"/>
              </a:spcBef>
              <a:spcAft>
                <a:spcPts val="0"/>
              </a:spcAft>
              <a:buNone/>
            </a:pPr>
            <a:r>
              <a:rPr b="1" i="0" lang="en-US" sz="2000">
                <a:solidFill>
                  <a:srgbClr val="F1F3FA"/>
                </a:solidFill>
                <a:latin typeface="Plus Jakarta Sans"/>
                <a:ea typeface="Plus Jakarta Sans"/>
                <a:cs typeface="Plus Jakarta Sans"/>
                <a:sym typeface="Plus Jakarta Sans"/>
              </a:rPr>
              <a:t>CZK 7,997.40</a:t>
            </a:r>
            <a:endParaRPr/>
          </a:p>
          <a:p>
            <a:pPr indent="0" lvl="0" marL="0" marR="0" rtl="0" algn="ctr">
              <a:spcBef>
                <a:spcPts val="0"/>
              </a:spcBef>
              <a:spcAft>
                <a:spcPts val="0"/>
              </a:spcAft>
              <a:buNone/>
            </a:pPr>
            <a:r>
              <a:rPr b="0" i="0" lang="en-US" sz="1200">
                <a:solidFill>
                  <a:srgbClr val="A9B0CF"/>
                </a:solidFill>
                <a:latin typeface="Plus Jakarta Sans"/>
                <a:ea typeface="Plus Jakarta Sans"/>
                <a:cs typeface="Plus Jakarta Sans"/>
                <a:sym typeface="Plus Jakarta Sans"/>
              </a:rPr>
              <a:t>sent to Martin</a:t>
            </a:r>
            <a:endParaRPr/>
          </a:p>
        </p:txBody>
      </p:sp>
      <p:cxnSp>
        <p:nvCxnSpPr>
          <p:cNvPr id="322" name="Google Shape;322;p4"/>
          <p:cNvCxnSpPr/>
          <p:nvPr/>
        </p:nvCxnSpPr>
        <p:spPr>
          <a:xfrm>
            <a:off x="3995928" y="3749039"/>
            <a:ext cx="484632" cy="0"/>
          </a:xfrm>
          <a:prstGeom prst="straightConnector1">
            <a:avLst/>
          </a:prstGeom>
          <a:noFill/>
          <a:ln cap="flat" cmpd="sng" w="38100">
            <a:solidFill>
              <a:srgbClr val="7C82EE"/>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323" name="Google Shape;323;p4"/>
          <p:cNvCxnSpPr/>
          <p:nvPr/>
        </p:nvCxnSpPr>
        <p:spPr>
          <a:xfrm>
            <a:off x="7717536" y="3749039"/>
            <a:ext cx="484631" cy="0"/>
          </a:xfrm>
          <a:prstGeom prst="straightConnector1">
            <a:avLst/>
          </a:prstGeom>
          <a:noFill/>
          <a:ln cap="flat" cmpd="sng" w="38100">
            <a:solidFill>
              <a:srgbClr val="7C82EE"/>
            </a:solidFill>
            <a:prstDash val="solid"/>
            <a:round/>
            <a:headEnd len="sm" w="sm" type="none"/>
            <a:tailEnd len="med" w="med" type="triangle"/>
          </a:ln>
          <a:effectLst>
            <a:outerShdw blurRad="40000" rotWithShape="0" dir="5400000" dist="20000">
              <a:srgbClr val="000000">
                <a:alpha val="38039"/>
              </a:srgbClr>
            </a:outerShdw>
          </a:effectLst>
        </p:spPr>
      </p:cxnSp>
      <p:sp>
        <p:nvSpPr>
          <p:cNvPr id="324" name="Google Shape;324;p4"/>
          <p:cNvSpPr txBox="1"/>
          <p:nvPr/>
        </p:nvSpPr>
        <p:spPr>
          <a:xfrm>
            <a:off x="868680" y="5623560"/>
            <a:ext cx="3017520" cy="4114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000">
                <a:solidFill>
                  <a:srgbClr val="F2A93B"/>
                </a:solidFill>
                <a:latin typeface="Plus Jakarta Sans"/>
                <a:ea typeface="Plus Jakarta Sans"/>
                <a:cs typeface="Plus Jakarta Sans"/>
                <a:sym typeface="Plus Jakarta Sans"/>
              </a:rPr>
              <a:t>Say</a:t>
            </a:r>
            <a:endParaRPr/>
          </a:p>
        </p:txBody>
      </p:sp>
      <p:sp>
        <p:nvSpPr>
          <p:cNvPr id="325" name="Google Shape;325;p4"/>
          <p:cNvSpPr txBox="1"/>
          <p:nvPr/>
        </p:nvSpPr>
        <p:spPr>
          <a:xfrm>
            <a:off x="4590288" y="5623560"/>
            <a:ext cx="3017520" cy="4114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000">
                <a:solidFill>
                  <a:srgbClr val="F2A93B"/>
                </a:solidFill>
                <a:latin typeface="Plus Jakarta Sans"/>
                <a:ea typeface="Plus Jakarta Sans"/>
                <a:cs typeface="Plus Jakarta Sans"/>
                <a:sym typeface="Plus Jakarta Sans"/>
              </a:rPr>
              <a:t>Snap</a:t>
            </a:r>
            <a:endParaRPr/>
          </a:p>
        </p:txBody>
      </p:sp>
      <p:sp>
        <p:nvSpPr>
          <p:cNvPr id="326" name="Google Shape;326;p4"/>
          <p:cNvSpPr txBox="1"/>
          <p:nvPr/>
        </p:nvSpPr>
        <p:spPr>
          <a:xfrm>
            <a:off x="8311896" y="5623560"/>
            <a:ext cx="3017520" cy="4114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000">
                <a:solidFill>
                  <a:srgbClr val="F2A93B"/>
                </a:solidFill>
                <a:latin typeface="Plus Jakarta Sans"/>
                <a:ea typeface="Plus Jakarta Sans"/>
                <a:cs typeface="Plus Jakarta Sans"/>
                <a:sym typeface="Plus Jakarta Sans"/>
              </a:rPr>
              <a:t>Paid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331" name="Shape 331"/>
        <p:cNvGrpSpPr/>
        <p:nvPr/>
      </p:nvGrpSpPr>
      <p:grpSpPr>
        <a:xfrm>
          <a:off x="0" y="0"/>
          <a:ext cx="0" cy="0"/>
          <a:chOff x="0" y="0"/>
          <a:chExt cx="0" cy="0"/>
        </a:xfrm>
      </p:grpSpPr>
      <p:sp>
        <p:nvSpPr>
          <p:cNvPr id="332" name="Google Shape;332;p7"/>
          <p:cNvSpPr txBox="1"/>
          <p:nvPr/>
        </p:nvSpPr>
        <p:spPr>
          <a:xfrm>
            <a:off x="762000" y="1009650"/>
            <a:ext cx="1060704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700" u="none">
                <a:solidFill>
                  <a:srgbClr val="F1F3FA"/>
                </a:solidFill>
                <a:latin typeface="Plus Jakarta Sans"/>
                <a:ea typeface="Plus Jakarta Sans"/>
                <a:cs typeface="Plus Jakarta Sans"/>
                <a:sym typeface="Plus Jakarta Sans"/>
              </a:rPr>
              <a:t>Our ask</a:t>
            </a:r>
            <a:endParaRPr/>
          </a:p>
        </p:txBody>
      </p:sp>
      <p:sp>
        <p:nvSpPr>
          <p:cNvPr id="333" name="Google Shape;333;p7"/>
          <p:cNvSpPr txBox="1"/>
          <p:nvPr/>
        </p:nvSpPr>
        <p:spPr>
          <a:xfrm>
            <a:off x="8058150" y="609600"/>
            <a:ext cx="3657600"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50" u="none">
                <a:solidFill>
                  <a:srgbClr val="A9B0CF"/>
                </a:solidFill>
                <a:latin typeface="Space Grotesk"/>
                <a:ea typeface="Space Grotesk"/>
                <a:cs typeface="Space Grotesk"/>
                <a:sym typeface="Space Grotesk"/>
              </a:rPr>
              <a:t>WHAT WE NEED NEXT</a:t>
            </a:r>
            <a:endParaRPr/>
          </a:p>
        </p:txBody>
      </p:sp>
      <p:sp>
        <p:nvSpPr>
          <p:cNvPr id="334" name="Google Shape;334;p7"/>
          <p:cNvSpPr txBox="1"/>
          <p:nvPr/>
        </p:nvSpPr>
        <p:spPr>
          <a:xfrm>
            <a:off x="758952" y="2011680"/>
            <a:ext cx="7589400" cy="1847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000">
                <a:solidFill>
                  <a:srgbClr val="F1F3FA"/>
                </a:solidFill>
                <a:latin typeface="Plus Jakarta Sans"/>
                <a:ea typeface="Plus Jakarta Sans"/>
                <a:cs typeface="Plus Jakarta Sans"/>
                <a:sym typeface="Plus Jakarta Sans"/>
              </a:rPr>
              <a:t>1</a:t>
            </a:r>
            <a:r>
              <a:rPr b="1" i="0" lang="en-US" sz="4000">
                <a:solidFill>
                  <a:srgbClr val="F1F3FA"/>
                </a:solidFill>
                <a:latin typeface="Plus Jakarta Sans"/>
                <a:ea typeface="Plus Jakarta Sans"/>
                <a:cs typeface="Plus Jakarta Sans"/>
                <a:sym typeface="Plus Jakarta Sans"/>
              </a:rPr>
              <a:t>-month pilot with one large company and its corporate-card bank.</a:t>
            </a:r>
            <a:endParaRPr/>
          </a:p>
        </p:txBody>
      </p:sp>
      <p:sp>
        <p:nvSpPr>
          <p:cNvPr id="335" name="Google Shape;335;p7"/>
          <p:cNvSpPr txBox="1"/>
          <p:nvPr/>
        </p:nvSpPr>
        <p:spPr>
          <a:xfrm>
            <a:off x="758952" y="4480560"/>
            <a:ext cx="73152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a:solidFill>
                  <a:srgbClr val="F1F3FA"/>
                </a:solidFill>
                <a:latin typeface="Plus Jakarta Sans"/>
                <a:ea typeface="Plus Jakarta Sans"/>
                <a:cs typeface="Plus Jakarta Sans"/>
                <a:sym typeface="Plus Jakarta Sans"/>
              </a:rPr>
              <a:t>Martin Michalik</a:t>
            </a:r>
            <a:r>
              <a:rPr b="0" i="0" lang="en-US" sz="1800">
                <a:solidFill>
                  <a:srgbClr val="A9B0CF"/>
                </a:solidFill>
                <a:latin typeface="Plus Jakarta Sans"/>
                <a:ea typeface="Plus Jakarta Sans"/>
                <a:cs typeface="Plus Jakarta Sans"/>
                <a:sym typeface="Plus Jakarta Sans"/>
              </a:rPr>
              <a:t>  ·  perdiemo.eu</a:t>
            </a:r>
            <a:endParaRPr/>
          </a:p>
        </p:txBody>
      </p:sp>
      <p:pic>
        <p:nvPicPr>
          <p:cNvPr descr="2895a930a8da6dc05fc1b886c71ffb7a.png" id="336" name="Google Shape;336;p7"/>
          <p:cNvPicPr preferRelativeResize="0"/>
          <p:nvPr/>
        </p:nvPicPr>
        <p:blipFill rotWithShape="1">
          <a:blip r:embed="rId3">
            <a:alphaModFix/>
          </a:blip>
          <a:srcRect b="0" l="0" r="0" t="0"/>
          <a:stretch/>
        </p:blipFill>
        <p:spPr>
          <a:xfrm>
            <a:off x="758952" y="5120640"/>
            <a:ext cx="1844040" cy="832792"/>
          </a:xfrm>
          <a:prstGeom prst="rect">
            <a:avLst/>
          </a:prstGeom>
          <a:noFill/>
          <a:ln>
            <a:noFill/>
          </a:ln>
        </p:spPr>
      </p:pic>
      <p:pic>
        <p:nvPicPr>
          <p:cNvPr descr="qr.png" id="337" name="Google Shape;337;p7"/>
          <p:cNvPicPr preferRelativeResize="0"/>
          <p:nvPr/>
        </p:nvPicPr>
        <p:blipFill rotWithShape="1">
          <a:blip r:embed="rId4">
            <a:alphaModFix/>
          </a:blip>
          <a:srcRect b="0" l="0" r="0" t="0"/>
          <a:stretch/>
        </p:blipFill>
        <p:spPr>
          <a:xfrm>
            <a:off x="9052560" y="2103120"/>
            <a:ext cx="2377440" cy="2377440"/>
          </a:xfrm>
          <a:prstGeom prst="rect">
            <a:avLst/>
          </a:prstGeom>
          <a:noFill/>
          <a:ln>
            <a:noFill/>
          </a:ln>
        </p:spPr>
      </p:pic>
      <p:sp>
        <p:nvSpPr>
          <p:cNvPr id="338" name="Google Shape;338;p7"/>
          <p:cNvSpPr txBox="1"/>
          <p:nvPr/>
        </p:nvSpPr>
        <p:spPr>
          <a:xfrm>
            <a:off x="9052560" y="4572000"/>
            <a:ext cx="237744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a:solidFill>
                  <a:srgbClr val="A9B0CF"/>
                </a:solidFill>
                <a:latin typeface="Plus Jakarta Sans"/>
                <a:ea typeface="Plus Jakarta Sans"/>
                <a:cs typeface="Plus Jakarta Sans"/>
                <a:sym typeface="Plus Jakarta Sans"/>
              </a:rPr>
              <a:t>perdiemo.eu</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B1220"/>
        </a:solidFill>
      </p:bgPr>
    </p:bg>
    <p:spTree>
      <p:nvGrpSpPr>
        <p:cNvPr id="343" name="Shape 343"/>
        <p:cNvGrpSpPr/>
        <p:nvPr/>
      </p:nvGrpSpPr>
      <p:grpSpPr>
        <a:xfrm>
          <a:off x="0" y="0"/>
          <a:ext cx="0" cy="0"/>
          <a:chOff x="0" y="0"/>
          <a:chExt cx="0" cy="0"/>
        </a:xfrm>
      </p:grpSpPr>
      <p:sp>
        <p:nvSpPr>
          <p:cNvPr id="344" name="Google Shape;344;p12"/>
          <p:cNvSpPr txBox="1"/>
          <p:nvPr/>
        </p:nvSpPr>
        <p:spPr>
          <a:xfrm>
            <a:off x="762000" y="1009650"/>
            <a:ext cx="1060704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700" u="none">
                <a:solidFill>
                  <a:srgbClr val="F1F3FA"/>
                </a:solidFill>
                <a:latin typeface="Plus Jakarta Sans"/>
                <a:ea typeface="Plus Jakarta Sans"/>
                <a:cs typeface="Plus Jakarta Sans"/>
                <a:sym typeface="Plus Jakarta Sans"/>
              </a:rPr>
              <a:t>Free to start. Scales with every trip.</a:t>
            </a:r>
            <a:endParaRPr/>
          </a:p>
        </p:txBody>
      </p:sp>
      <p:sp>
        <p:nvSpPr>
          <p:cNvPr id="345" name="Google Shape;345;p12"/>
          <p:cNvSpPr txBox="1"/>
          <p:nvPr/>
        </p:nvSpPr>
        <p:spPr>
          <a:xfrm>
            <a:off x="762000" y="609600"/>
            <a:ext cx="45720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a:solidFill>
                  <a:srgbClr val="F2A93B"/>
                </a:solidFill>
                <a:latin typeface="Space Grotesk"/>
                <a:ea typeface="Space Grotesk"/>
                <a:cs typeface="Space Grotesk"/>
                <a:sym typeface="Space Grotesk"/>
              </a:rPr>
              <a:t>SLIDE 12 / 12 • PRICING</a:t>
            </a:r>
            <a:endParaRPr/>
          </a:p>
        </p:txBody>
      </p:sp>
      <p:sp>
        <p:nvSpPr>
          <p:cNvPr id="346" name="Google Shape;346;p12"/>
          <p:cNvSpPr txBox="1"/>
          <p:nvPr/>
        </p:nvSpPr>
        <p:spPr>
          <a:xfrm>
            <a:off x="8060531" y="609600"/>
            <a:ext cx="3657600"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50" u="none">
                <a:solidFill>
                  <a:srgbClr val="A9B0CF"/>
                </a:solidFill>
                <a:latin typeface="Space Grotesk"/>
                <a:ea typeface="Space Grotesk"/>
                <a:cs typeface="Space Grotesk"/>
                <a:sym typeface="Space Grotesk"/>
              </a:rPr>
              <a:t>SAAS PLANS</a:t>
            </a:r>
            <a:endParaRPr/>
          </a:p>
        </p:txBody>
      </p:sp>
      <p:sp>
        <p:nvSpPr>
          <p:cNvPr id="347" name="Google Shape;347;p12"/>
          <p:cNvSpPr/>
          <p:nvPr/>
        </p:nvSpPr>
        <p:spPr>
          <a:xfrm>
            <a:off x="758952" y="1783080"/>
            <a:ext cx="2496312" cy="4160520"/>
          </a:xfrm>
          <a:prstGeom prst="roundRect">
            <a:avLst>
              <a:gd fmla="val 6000" name="adj"/>
            </a:avLst>
          </a:prstGeom>
          <a:solidFill>
            <a:srgbClr val="161C2F"/>
          </a:solidFill>
          <a:ln cap="flat" cmpd="sng" w="9525">
            <a:solidFill>
              <a:srgbClr val="2A33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12"/>
          <p:cNvSpPr txBox="1"/>
          <p:nvPr/>
        </p:nvSpPr>
        <p:spPr>
          <a:xfrm>
            <a:off x="987552" y="2011680"/>
            <a:ext cx="2039112"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7C82EE"/>
                </a:solidFill>
                <a:latin typeface="Plus Jakarta Sans"/>
                <a:ea typeface="Plus Jakarta Sans"/>
                <a:cs typeface="Plus Jakarta Sans"/>
                <a:sym typeface="Plus Jakarta Sans"/>
              </a:rPr>
              <a:t>FREE</a:t>
            </a:r>
            <a:endParaRPr/>
          </a:p>
        </p:txBody>
      </p:sp>
      <p:sp>
        <p:nvSpPr>
          <p:cNvPr id="349" name="Google Shape;349;p12"/>
          <p:cNvSpPr txBox="1"/>
          <p:nvPr/>
        </p:nvSpPr>
        <p:spPr>
          <a:xfrm>
            <a:off x="987552" y="2377440"/>
            <a:ext cx="2039112"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a:solidFill>
                  <a:srgbClr val="F1F3FA"/>
                </a:solidFill>
                <a:latin typeface="Plus Jakarta Sans"/>
                <a:ea typeface="Plus Jakarta Sans"/>
                <a:cs typeface="Plus Jakarta Sans"/>
                <a:sym typeface="Plus Jakarta Sans"/>
              </a:rPr>
              <a:t>CZK 0</a:t>
            </a:r>
            <a:endParaRPr/>
          </a:p>
        </p:txBody>
      </p:sp>
      <p:sp>
        <p:nvSpPr>
          <p:cNvPr id="350" name="Google Shape;350;p12"/>
          <p:cNvSpPr txBox="1"/>
          <p:nvPr/>
        </p:nvSpPr>
        <p:spPr>
          <a:xfrm>
            <a:off x="987552" y="2926080"/>
            <a:ext cx="2039112"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a:solidFill>
                  <a:srgbClr val="A9B0CF"/>
                </a:solidFill>
                <a:latin typeface="Plus Jakarta Sans"/>
                <a:ea typeface="Plus Jakarta Sans"/>
                <a:cs typeface="Plus Jakarta Sans"/>
                <a:sym typeface="Plus Jakarta Sans"/>
              </a:rPr>
              <a:t>Try it</a:t>
            </a:r>
            <a:endParaRPr/>
          </a:p>
        </p:txBody>
      </p:sp>
      <p:sp>
        <p:nvSpPr>
          <p:cNvPr id="351" name="Google Shape;351;p12"/>
          <p:cNvSpPr txBox="1"/>
          <p:nvPr/>
        </p:nvSpPr>
        <p:spPr>
          <a:xfrm>
            <a:off x="987552" y="3474720"/>
            <a:ext cx="2039112"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3FC79A"/>
                </a:solidFill>
                <a:latin typeface="Plus Jakarta Sans"/>
                <a:ea typeface="Plus Jakarta Sans"/>
                <a:cs typeface="Plus Jakarta Sans"/>
                <a:sym typeface="Plus Jakarta Sans"/>
              </a:rPr>
              <a:t>✓  </a:t>
            </a:r>
            <a:r>
              <a:rPr b="0" i="0" lang="en-US" sz="1300">
                <a:solidFill>
                  <a:srgbClr val="F1F3FA"/>
                </a:solidFill>
                <a:latin typeface="Plus Jakarta Sans"/>
                <a:ea typeface="Plus Jakarta Sans"/>
                <a:cs typeface="Plus Jakarta Sans"/>
                <a:sym typeface="Plus Jakarta Sans"/>
              </a:rPr>
              <a:t>10 trips a year</a:t>
            </a:r>
            <a:endParaRPr/>
          </a:p>
        </p:txBody>
      </p:sp>
      <p:sp>
        <p:nvSpPr>
          <p:cNvPr id="352" name="Google Shape;352;p12"/>
          <p:cNvSpPr txBox="1"/>
          <p:nvPr/>
        </p:nvSpPr>
        <p:spPr>
          <a:xfrm>
            <a:off x="987552" y="4023359"/>
            <a:ext cx="2039112"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3FC79A"/>
                </a:solidFill>
                <a:latin typeface="Plus Jakarta Sans"/>
                <a:ea typeface="Plus Jakarta Sans"/>
                <a:cs typeface="Plus Jakarta Sans"/>
                <a:sym typeface="Plus Jakarta Sans"/>
              </a:rPr>
              <a:t>✓  </a:t>
            </a:r>
            <a:r>
              <a:rPr b="0" i="0" lang="en-US" sz="1300">
                <a:solidFill>
                  <a:srgbClr val="F1F3FA"/>
                </a:solidFill>
                <a:latin typeface="Plus Jakarta Sans"/>
                <a:ea typeface="Plus Jakarta Sans"/>
                <a:cs typeface="Plus Jakarta Sans"/>
                <a:sym typeface="Plus Jakarta Sans"/>
              </a:rPr>
              <a:t>Calculated by the Labour Code</a:t>
            </a:r>
            <a:endParaRPr/>
          </a:p>
        </p:txBody>
      </p:sp>
      <p:sp>
        <p:nvSpPr>
          <p:cNvPr id="353" name="Google Shape;353;p12"/>
          <p:cNvSpPr txBox="1"/>
          <p:nvPr/>
        </p:nvSpPr>
        <p:spPr>
          <a:xfrm>
            <a:off x="987552" y="4571999"/>
            <a:ext cx="2039112"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3FC79A"/>
                </a:solidFill>
                <a:latin typeface="Plus Jakarta Sans"/>
                <a:ea typeface="Plus Jakarta Sans"/>
                <a:cs typeface="Plus Jakarta Sans"/>
                <a:sym typeface="Plus Jakarta Sans"/>
              </a:rPr>
              <a:t>✓  </a:t>
            </a:r>
            <a:r>
              <a:rPr b="0" i="0" lang="en-US" sz="1300">
                <a:solidFill>
                  <a:srgbClr val="F1F3FA"/>
                </a:solidFill>
                <a:latin typeface="Plus Jakarta Sans"/>
                <a:ea typeface="Plus Jakarta Sans"/>
                <a:cs typeface="Plus Jakarta Sans"/>
                <a:sym typeface="Plus Jakarta Sans"/>
              </a:rPr>
              <a:t>PDF and XML export</a:t>
            </a:r>
            <a:endParaRPr/>
          </a:p>
        </p:txBody>
      </p:sp>
      <p:sp>
        <p:nvSpPr>
          <p:cNvPr id="354" name="Google Shape;354;p12"/>
          <p:cNvSpPr/>
          <p:nvPr/>
        </p:nvSpPr>
        <p:spPr>
          <a:xfrm>
            <a:off x="3483864" y="1783080"/>
            <a:ext cx="2496312" cy="4160520"/>
          </a:xfrm>
          <a:prstGeom prst="roundRect">
            <a:avLst>
              <a:gd fmla="val 6000" name="adj"/>
            </a:avLst>
          </a:prstGeom>
          <a:solidFill>
            <a:srgbClr val="161C2F"/>
          </a:solidFill>
          <a:ln cap="flat" cmpd="sng" w="9525">
            <a:solidFill>
              <a:srgbClr val="2A33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12"/>
          <p:cNvSpPr txBox="1"/>
          <p:nvPr/>
        </p:nvSpPr>
        <p:spPr>
          <a:xfrm>
            <a:off x="3712464" y="2011680"/>
            <a:ext cx="2039112"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7C82EE"/>
                </a:solidFill>
                <a:latin typeface="Plus Jakarta Sans"/>
                <a:ea typeface="Plus Jakarta Sans"/>
                <a:cs typeface="Plus Jakarta Sans"/>
                <a:sym typeface="Plus Jakarta Sans"/>
              </a:rPr>
              <a:t>BUSINESS</a:t>
            </a:r>
            <a:endParaRPr/>
          </a:p>
        </p:txBody>
      </p:sp>
      <p:sp>
        <p:nvSpPr>
          <p:cNvPr id="356" name="Google Shape;356;p12"/>
          <p:cNvSpPr txBox="1"/>
          <p:nvPr/>
        </p:nvSpPr>
        <p:spPr>
          <a:xfrm>
            <a:off x="3712464" y="2377440"/>
            <a:ext cx="2039112"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a:solidFill>
                  <a:srgbClr val="F1F3FA"/>
                </a:solidFill>
                <a:latin typeface="Plus Jakarta Sans"/>
                <a:ea typeface="Plus Jakarta Sans"/>
                <a:cs typeface="Plus Jakarta Sans"/>
                <a:sym typeface="Plus Jakarta Sans"/>
              </a:rPr>
              <a:t>Annual plan</a:t>
            </a:r>
            <a:endParaRPr/>
          </a:p>
        </p:txBody>
      </p:sp>
      <p:sp>
        <p:nvSpPr>
          <p:cNvPr id="357" name="Google Shape;357;p12"/>
          <p:cNvSpPr txBox="1"/>
          <p:nvPr/>
        </p:nvSpPr>
        <p:spPr>
          <a:xfrm>
            <a:off x="3712464" y="2926080"/>
            <a:ext cx="2039112"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a:solidFill>
                  <a:srgbClr val="A9B0CF"/>
                </a:solidFill>
                <a:latin typeface="Plus Jakarta Sans"/>
                <a:ea typeface="Plus Jakarta Sans"/>
                <a:cs typeface="Plus Jakarta Sans"/>
                <a:sym typeface="Plus Jakarta Sans"/>
              </a:rPr>
              <a:t>Growing teams</a:t>
            </a:r>
            <a:endParaRPr/>
          </a:p>
        </p:txBody>
      </p:sp>
      <p:sp>
        <p:nvSpPr>
          <p:cNvPr id="358" name="Google Shape;358;p12"/>
          <p:cNvSpPr txBox="1"/>
          <p:nvPr/>
        </p:nvSpPr>
        <p:spPr>
          <a:xfrm>
            <a:off x="3712464" y="3474720"/>
            <a:ext cx="2039112"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3FC79A"/>
                </a:solidFill>
                <a:latin typeface="Plus Jakarta Sans"/>
                <a:ea typeface="Plus Jakarta Sans"/>
                <a:cs typeface="Plus Jakarta Sans"/>
                <a:sym typeface="Plus Jakarta Sans"/>
              </a:rPr>
              <a:t>✓  </a:t>
            </a:r>
            <a:r>
              <a:rPr b="0" i="0" lang="en-US" sz="1300">
                <a:solidFill>
                  <a:srgbClr val="F1F3FA"/>
                </a:solidFill>
                <a:latin typeface="Plus Jakarta Sans"/>
                <a:ea typeface="Plus Jakarta Sans"/>
                <a:cs typeface="Plus Jakarta Sans"/>
                <a:sym typeface="Plus Jakarta Sans"/>
              </a:rPr>
              <a:t>More trips</a:t>
            </a:r>
            <a:endParaRPr/>
          </a:p>
        </p:txBody>
      </p:sp>
      <p:sp>
        <p:nvSpPr>
          <p:cNvPr id="359" name="Google Shape;359;p12"/>
          <p:cNvSpPr txBox="1"/>
          <p:nvPr/>
        </p:nvSpPr>
        <p:spPr>
          <a:xfrm>
            <a:off x="3712464" y="4023359"/>
            <a:ext cx="2039112"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3FC79A"/>
                </a:solidFill>
                <a:latin typeface="Plus Jakarta Sans"/>
                <a:ea typeface="Plus Jakarta Sans"/>
                <a:cs typeface="Plus Jakarta Sans"/>
                <a:sym typeface="Plus Jakarta Sans"/>
              </a:rPr>
              <a:t>✓  </a:t>
            </a:r>
            <a:r>
              <a:rPr b="0" i="0" lang="en-US" sz="1300">
                <a:solidFill>
                  <a:srgbClr val="F1F3FA"/>
                </a:solidFill>
                <a:latin typeface="Plus Jakarta Sans"/>
                <a:ea typeface="Plus Jakarta Sans"/>
                <a:cs typeface="Plus Jakarta Sans"/>
                <a:sym typeface="Plus Jakarta Sans"/>
              </a:rPr>
              <a:t>No per-user fees</a:t>
            </a:r>
            <a:endParaRPr/>
          </a:p>
        </p:txBody>
      </p:sp>
      <p:sp>
        <p:nvSpPr>
          <p:cNvPr id="360" name="Google Shape;360;p12"/>
          <p:cNvSpPr txBox="1"/>
          <p:nvPr/>
        </p:nvSpPr>
        <p:spPr>
          <a:xfrm>
            <a:off x="3712464" y="4571999"/>
            <a:ext cx="2039112"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3FC79A"/>
                </a:solidFill>
                <a:latin typeface="Plus Jakarta Sans"/>
                <a:ea typeface="Plus Jakarta Sans"/>
                <a:cs typeface="Plus Jakarta Sans"/>
                <a:sym typeface="Plus Jakarta Sans"/>
              </a:rPr>
              <a:t>✓  </a:t>
            </a:r>
            <a:r>
              <a:rPr b="0" i="0" lang="en-US" sz="1300">
                <a:solidFill>
                  <a:srgbClr val="F1F3FA"/>
                </a:solidFill>
                <a:latin typeface="Plus Jakarta Sans"/>
                <a:ea typeface="Plus Jakarta Sans"/>
                <a:cs typeface="Plus Jakarta Sans"/>
                <a:sym typeface="Plus Jakarta Sans"/>
              </a:rPr>
              <a:t>Export to accounting</a:t>
            </a:r>
            <a:endParaRPr/>
          </a:p>
        </p:txBody>
      </p:sp>
      <p:sp>
        <p:nvSpPr>
          <p:cNvPr id="361" name="Google Shape;361;p12"/>
          <p:cNvSpPr/>
          <p:nvPr/>
        </p:nvSpPr>
        <p:spPr>
          <a:xfrm>
            <a:off x="6208776" y="1783080"/>
            <a:ext cx="2496312" cy="4160520"/>
          </a:xfrm>
          <a:prstGeom prst="roundRect">
            <a:avLst>
              <a:gd fmla="val 6000" name="adj"/>
            </a:avLst>
          </a:prstGeom>
          <a:solidFill>
            <a:srgbClr val="1E2463"/>
          </a:solidFill>
          <a:ln cap="flat" cmpd="sng" w="19050">
            <a:solidFill>
              <a:srgbClr val="6A70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12"/>
          <p:cNvSpPr txBox="1"/>
          <p:nvPr/>
        </p:nvSpPr>
        <p:spPr>
          <a:xfrm>
            <a:off x="6437376" y="2011680"/>
            <a:ext cx="2039112"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F2A93B"/>
                </a:solidFill>
                <a:latin typeface="Plus Jakarta Sans"/>
                <a:ea typeface="Plus Jakarta Sans"/>
                <a:cs typeface="Plus Jakarta Sans"/>
                <a:sym typeface="Plus Jakarta Sans"/>
              </a:rPr>
              <a:t>ENTERPRISE</a:t>
            </a:r>
            <a:endParaRPr/>
          </a:p>
        </p:txBody>
      </p:sp>
      <p:sp>
        <p:nvSpPr>
          <p:cNvPr id="363" name="Google Shape;363;p12"/>
          <p:cNvSpPr txBox="1"/>
          <p:nvPr/>
        </p:nvSpPr>
        <p:spPr>
          <a:xfrm>
            <a:off x="6437376" y="2377440"/>
            <a:ext cx="2039112"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a:solidFill>
                  <a:srgbClr val="F1F3FA"/>
                </a:solidFill>
                <a:latin typeface="Plus Jakarta Sans"/>
                <a:ea typeface="Plus Jakarta Sans"/>
                <a:cs typeface="Plus Jakarta Sans"/>
                <a:sym typeface="Plus Jakarta Sans"/>
              </a:rPr>
              <a:t>Per closed trip</a:t>
            </a:r>
            <a:endParaRPr/>
          </a:p>
        </p:txBody>
      </p:sp>
      <p:sp>
        <p:nvSpPr>
          <p:cNvPr id="364" name="Google Shape;364;p12"/>
          <p:cNvSpPr txBox="1"/>
          <p:nvPr/>
        </p:nvSpPr>
        <p:spPr>
          <a:xfrm>
            <a:off x="6437376" y="2926080"/>
            <a:ext cx="2039112"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a:solidFill>
                  <a:srgbClr val="A9B0CF"/>
                </a:solidFill>
                <a:latin typeface="Plus Jakarta Sans"/>
                <a:ea typeface="Plus Jakarta Sans"/>
                <a:cs typeface="Plus Jakarta Sans"/>
                <a:sym typeface="Plus Jakarta Sans"/>
              </a:rPr>
              <a:t>Large companies</a:t>
            </a:r>
            <a:endParaRPr/>
          </a:p>
        </p:txBody>
      </p:sp>
      <p:sp>
        <p:nvSpPr>
          <p:cNvPr id="365" name="Google Shape;365;p12"/>
          <p:cNvSpPr txBox="1"/>
          <p:nvPr/>
        </p:nvSpPr>
        <p:spPr>
          <a:xfrm>
            <a:off x="6437376" y="3474720"/>
            <a:ext cx="2039112"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3FC79A"/>
                </a:solidFill>
                <a:latin typeface="Plus Jakarta Sans"/>
                <a:ea typeface="Plus Jakarta Sans"/>
                <a:cs typeface="Plus Jakarta Sans"/>
                <a:sym typeface="Plus Jakarta Sans"/>
              </a:rPr>
              <a:t>✓  </a:t>
            </a:r>
            <a:r>
              <a:rPr b="0" i="0" lang="en-US" sz="1300">
                <a:solidFill>
                  <a:srgbClr val="F1F3FA"/>
                </a:solidFill>
                <a:latin typeface="Plus Jakarta Sans"/>
                <a:ea typeface="Plus Jakarta Sans"/>
                <a:cs typeface="Plus Jakarta Sans"/>
                <a:sym typeface="Plus Jakarta Sans"/>
              </a:rPr>
              <a:t>AI agent: say, snap, paid</a:t>
            </a:r>
            <a:endParaRPr/>
          </a:p>
        </p:txBody>
      </p:sp>
      <p:sp>
        <p:nvSpPr>
          <p:cNvPr id="366" name="Google Shape;366;p12"/>
          <p:cNvSpPr txBox="1"/>
          <p:nvPr/>
        </p:nvSpPr>
        <p:spPr>
          <a:xfrm>
            <a:off x="6437376" y="4023359"/>
            <a:ext cx="2039112"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3FC79A"/>
                </a:solidFill>
                <a:latin typeface="Plus Jakarta Sans"/>
                <a:ea typeface="Plus Jakarta Sans"/>
                <a:cs typeface="Plus Jakarta Sans"/>
                <a:sym typeface="Plus Jakarta Sans"/>
              </a:rPr>
              <a:t>✓  </a:t>
            </a:r>
            <a:r>
              <a:rPr b="0" i="0" lang="en-US" sz="1300">
                <a:solidFill>
                  <a:srgbClr val="F1F3FA"/>
                </a:solidFill>
                <a:latin typeface="Plus Jakarta Sans"/>
                <a:ea typeface="Plus Jakarta Sans"/>
                <a:cs typeface="Plus Jakarta Sans"/>
                <a:sym typeface="Plus Jakarta Sans"/>
              </a:rPr>
              <a:t>Corporate card matching</a:t>
            </a:r>
            <a:endParaRPr/>
          </a:p>
        </p:txBody>
      </p:sp>
      <p:sp>
        <p:nvSpPr>
          <p:cNvPr id="367" name="Google Shape;367;p12"/>
          <p:cNvSpPr txBox="1"/>
          <p:nvPr/>
        </p:nvSpPr>
        <p:spPr>
          <a:xfrm>
            <a:off x="6437376" y="4571999"/>
            <a:ext cx="2039112"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3FC79A"/>
                </a:solidFill>
                <a:latin typeface="Plus Jakarta Sans"/>
                <a:ea typeface="Plus Jakarta Sans"/>
                <a:cs typeface="Plus Jakarta Sans"/>
                <a:sym typeface="Plus Jakarta Sans"/>
              </a:rPr>
              <a:t>✓  </a:t>
            </a:r>
            <a:r>
              <a:rPr b="0" i="0" lang="en-US" sz="1300">
                <a:solidFill>
                  <a:srgbClr val="F1F3FA"/>
                </a:solidFill>
                <a:latin typeface="Plus Jakarta Sans"/>
                <a:ea typeface="Plus Jakarta Sans"/>
                <a:cs typeface="Plus Jakarta Sans"/>
                <a:sym typeface="Plus Jakarta Sans"/>
              </a:rPr>
              <a:t>ERP and payroll connectors</a:t>
            </a:r>
            <a:endParaRPr/>
          </a:p>
        </p:txBody>
      </p:sp>
      <p:sp>
        <p:nvSpPr>
          <p:cNvPr id="368" name="Google Shape;368;p12"/>
          <p:cNvSpPr txBox="1"/>
          <p:nvPr/>
        </p:nvSpPr>
        <p:spPr>
          <a:xfrm>
            <a:off x="6437376" y="5120639"/>
            <a:ext cx="2039112"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3FC79A"/>
                </a:solidFill>
                <a:latin typeface="Plus Jakarta Sans"/>
                <a:ea typeface="Plus Jakarta Sans"/>
                <a:cs typeface="Plus Jakarta Sans"/>
                <a:sym typeface="Plus Jakarta Sans"/>
              </a:rPr>
              <a:t>✓  </a:t>
            </a:r>
            <a:r>
              <a:rPr b="0" i="0" lang="en-US" sz="1300">
                <a:solidFill>
                  <a:srgbClr val="F1F3FA"/>
                </a:solidFill>
                <a:latin typeface="Plus Jakarta Sans"/>
                <a:ea typeface="Plus Jakarta Sans"/>
                <a:cs typeface="Plus Jakarta Sans"/>
                <a:sym typeface="Plus Jakarta Sans"/>
              </a:rPr>
              <a:t>Compliance rules, audit trail</a:t>
            </a:r>
            <a:endParaRPr/>
          </a:p>
        </p:txBody>
      </p:sp>
      <p:sp>
        <p:nvSpPr>
          <p:cNvPr id="369" name="Google Shape;369;p12"/>
          <p:cNvSpPr/>
          <p:nvPr/>
        </p:nvSpPr>
        <p:spPr>
          <a:xfrm>
            <a:off x="7379208" y="1600200"/>
            <a:ext cx="1143000" cy="329184"/>
          </a:xfrm>
          <a:prstGeom prst="roundRect">
            <a:avLst>
              <a:gd fmla="val 6000" name="adj"/>
            </a:avLst>
          </a:prstGeom>
          <a:solidFill>
            <a:srgbClr val="F2A93B"/>
          </a:solidFill>
          <a:ln>
            <a:noFill/>
          </a:ln>
        </p:spPr>
        <p:txBody>
          <a:bodyPr anchorCtr="0" anchor="ctr" bIns="25600" lIns="36575" spcFirstLastPara="1" rIns="36575" wrap="square" tIns="25600">
            <a:noAutofit/>
          </a:bodyPr>
          <a:lstStyle/>
          <a:p>
            <a:pPr indent="0" lvl="0" marL="0" marR="0" rtl="0" algn="ctr">
              <a:spcBef>
                <a:spcPts val="0"/>
              </a:spcBef>
              <a:spcAft>
                <a:spcPts val="0"/>
              </a:spcAft>
              <a:buNone/>
            </a:pPr>
            <a:r>
              <a:rPr b="1" i="0" lang="en-US" sz="1000">
                <a:solidFill>
                  <a:srgbClr val="0B1220"/>
                </a:solidFill>
                <a:latin typeface="Plus Jakarta Sans"/>
                <a:ea typeface="Plus Jakarta Sans"/>
                <a:cs typeface="Plus Jakarta Sans"/>
                <a:sym typeface="Plus Jakarta Sans"/>
              </a:rPr>
              <a:t>Our focus</a:t>
            </a:r>
            <a:endParaRPr/>
          </a:p>
        </p:txBody>
      </p:sp>
      <p:sp>
        <p:nvSpPr>
          <p:cNvPr id="370" name="Google Shape;370;p12"/>
          <p:cNvSpPr/>
          <p:nvPr/>
        </p:nvSpPr>
        <p:spPr>
          <a:xfrm>
            <a:off x="8933688" y="1783080"/>
            <a:ext cx="2496312" cy="4160520"/>
          </a:xfrm>
          <a:prstGeom prst="roundRect">
            <a:avLst>
              <a:gd fmla="val 6000" name="adj"/>
            </a:avLst>
          </a:prstGeom>
          <a:solidFill>
            <a:srgbClr val="161C2F"/>
          </a:solidFill>
          <a:ln cap="flat" cmpd="sng" w="9525">
            <a:solidFill>
              <a:srgbClr val="2A33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p12"/>
          <p:cNvSpPr txBox="1"/>
          <p:nvPr/>
        </p:nvSpPr>
        <p:spPr>
          <a:xfrm>
            <a:off x="9162288" y="2011680"/>
            <a:ext cx="2039112"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7C82EE"/>
                </a:solidFill>
                <a:latin typeface="Plus Jakarta Sans"/>
                <a:ea typeface="Plus Jakarta Sans"/>
                <a:cs typeface="Plus Jakarta Sans"/>
                <a:sym typeface="Plus Jakarta Sans"/>
              </a:rPr>
              <a:t>PARTNER</a:t>
            </a:r>
            <a:endParaRPr/>
          </a:p>
        </p:txBody>
      </p:sp>
      <p:sp>
        <p:nvSpPr>
          <p:cNvPr id="372" name="Google Shape;372;p12"/>
          <p:cNvSpPr txBox="1"/>
          <p:nvPr/>
        </p:nvSpPr>
        <p:spPr>
          <a:xfrm>
            <a:off x="9162288" y="2377440"/>
            <a:ext cx="2039112"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a:solidFill>
                  <a:srgbClr val="F1F3FA"/>
                </a:solidFill>
                <a:latin typeface="Plus Jakarta Sans"/>
                <a:ea typeface="Plus Jakarta Sans"/>
                <a:cs typeface="Plus Jakarta Sans"/>
                <a:sym typeface="Plus Jakarta Sans"/>
              </a:rPr>
              <a:t>White-label</a:t>
            </a:r>
            <a:endParaRPr/>
          </a:p>
        </p:txBody>
      </p:sp>
      <p:sp>
        <p:nvSpPr>
          <p:cNvPr id="373" name="Google Shape;373;p12"/>
          <p:cNvSpPr txBox="1"/>
          <p:nvPr/>
        </p:nvSpPr>
        <p:spPr>
          <a:xfrm>
            <a:off x="9162288" y="2926080"/>
            <a:ext cx="2039112"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a:solidFill>
                  <a:srgbClr val="A9B0CF"/>
                </a:solidFill>
                <a:latin typeface="Plus Jakarta Sans"/>
                <a:ea typeface="Plus Jakarta Sans"/>
                <a:cs typeface="Plus Jakarta Sans"/>
                <a:sym typeface="Plus Jakarta Sans"/>
              </a:rPr>
              <a:t>Banks and card issuers</a:t>
            </a:r>
            <a:endParaRPr/>
          </a:p>
        </p:txBody>
      </p:sp>
      <p:sp>
        <p:nvSpPr>
          <p:cNvPr id="374" name="Google Shape;374;p12"/>
          <p:cNvSpPr txBox="1"/>
          <p:nvPr/>
        </p:nvSpPr>
        <p:spPr>
          <a:xfrm>
            <a:off x="9162288" y="3474720"/>
            <a:ext cx="2039112"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3FC79A"/>
                </a:solidFill>
                <a:latin typeface="Plus Jakarta Sans"/>
                <a:ea typeface="Plus Jakarta Sans"/>
                <a:cs typeface="Plus Jakarta Sans"/>
                <a:sym typeface="Plus Jakarta Sans"/>
              </a:rPr>
              <a:t>✓  </a:t>
            </a:r>
            <a:r>
              <a:rPr b="0" i="0" lang="en-US" sz="1300">
                <a:solidFill>
                  <a:srgbClr val="F1F3FA"/>
                </a:solidFill>
                <a:latin typeface="Plus Jakarta Sans"/>
                <a:ea typeface="Plus Jakarta Sans"/>
                <a:cs typeface="Plus Jakarta Sans"/>
                <a:sym typeface="Plus Jakarta Sans"/>
              </a:rPr>
              <a:t>PerDiemo inside your app</a:t>
            </a:r>
            <a:endParaRPr/>
          </a:p>
        </p:txBody>
      </p:sp>
      <p:sp>
        <p:nvSpPr>
          <p:cNvPr id="375" name="Google Shape;375;p12"/>
          <p:cNvSpPr txBox="1"/>
          <p:nvPr/>
        </p:nvSpPr>
        <p:spPr>
          <a:xfrm>
            <a:off x="9162288" y="4023359"/>
            <a:ext cx="2039112"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3FC79A"/>
                </a:solidFill>
                <a:latin typeface="Plus Jakarta Sans"/>
                <a:ea typeface="Plus Jakarta Sans"/>
                <a:cs typeface="Plus Jakarta Sans"/>
                <a:sym typeface="Plus Jakarta Sans"/>
              </a:rPr>
              <a:t>✓  </a:t>
            </a:r>
            <a:r>
              <a:rPr b="0" i="0" lang="en-US" sz="1300">
                <a:solidFill>
                  <a:srgbClr val="F1F3FA"/>
                </a:solidFill>
                <a:latin typeface="Plus Jakarta Sans"/>
                <a:ea typeface="Plus Jakarta Sans"/>
                <a:cs typeface="Plus Jakarta Sans"/>
                <a:sym typeface="Plus Jakarta Sans"/>
              </a:rPr>
              <a:t>API and MCP access</a:t>
            </a:r>
            <a:endParaRPr/>
          </a:p>
        </p:txBody>
      </p:sp>
      <p:sp>
        <p:nvSpPr>
          <p:cNvPr id="376" name="Google Shape;376;p12"/>
          <p:cNvSpPr txBox="1"/>
          <p:nvPr/>
        </p:nvSpPr>
        <p:spPr>
          <a:xfrm>
            <a:off x="9162288" y="4571999"/>
            <a:ext cx="2039112"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3FC79A"/>
                </a:solidFill>
                <a:latin typeface="Plus Jakarta Sans"/>
                <a:ea typeface="Plus Jakarta Sans"/>
                <a:cs typeface="Plus Jakarta Sans"/>
                <a:sym typeface="Plus Jakarta Sans"/>
              </a:rPr>
              <a:t>✓  </a:t>
            </a:r>
            <a:r>
              <a:rPr b="0" i="0" lang="en-US" sz="1300">
                <a:solidFill>
                  <a:srgbClr val="F1F3FA"/>
                </a:solidFill>
                <a:latin typeface="Plus Jakarta Sans"/>
                <a:ea typeface="Plus Jakarta Sans"/>
                <a:cs typeface="Plus Jakarta Sans"/>
                <a:sym typeface="Plus Jakarta Sans"/>
              </a:rPr>
              <a:t>Revenue share</a:t>
            </a:r>
            <a:endParaRPr/>
          </a:p>
        </p:txBody>
      </p:sp>
      <p:sp>
        <p:nvSpPr>
          <p:cNvPr id="377" name="Google Shape;377;p12"/>
          <p:cNvSpPr txBox="1"/>
          <p:nvPr/>
        </p:nvSpPr>
        <p:spPr>
          <a:xfrm>
            <a:off x="758952" y="6172200"/>
            <a:ext cx="10671048"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a:solidFill>
                  <a:srgbClr val="A9B0CF"/>
                </a:solidFill>
                <a:latin typeface="Plus Jakarta Sans"/>
                <a:ea typeface="Plus Jakarta Sans"/>
                <a:cs typeface="Plus Jakarta Sans"/>
                <a:sym typeface="Plus Jakarta Sans"/>
              </a:rPr>
              <a:t>No per-user fees on any plan. Enterprise and partner prices are set with the pilot.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B1220"/>
        </a:solidFill>
      </p:bgPr>
    </p:bg>
    <p:spTree>
      <p:nvGrpSpPr>
        <p:cNvPr id="382" name="Shape 382"/>
        <p:cNvGrpSpPr/>
        <p:nvPr/>
      </p:nvGrpSpPr>
      <p:grpSpPr>
        <a:xfrm>
          <a:off x="0" y="0"/>
          <a:ext cx="0" cy="0"/>
          <a:chOff x="0" y="0"/>
          <a:chExt cx="0" cy="0"/>
        </a:xfrm>
      </p:grpSpPr>
      <p:sp>
        <p:nvSpPr>
          <p:cNvPr id="383" name="Google Shape;383;p3"/>
          <p:cNvSpPr txBox="1"/>
          <p:nvPr/>
        </p:nvSpPr>
        <p:spPr>
          <a:xfrm>
            <a:off x="762000" y="1009650"/>
            <a:ext cx="10607100" cy="42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400" u="none">
                <a:solidFill>
                  <a:srgbClr val="F1F3FA"/>
                </a:solidFill>
                <a:latin typeface="Plus Jakarta Sans"/>
                <a:ea typeface="Plus Jakarta Sans"/>
                <a:cs typeface="Plus Jakarta Sans"/>
                <a:sym typeface="Plus Jakarta Sans"/>
              </a:rPr>
              <a:t>Stop clicking. Just ask for it.</a:t>
            </a:r>
            <a:endParaRPr/>
          </a:p>
        </p:txBody>
      </p:sp>
      <p:sp>
        <p:nvSpPr>
          <p:cNvPr id="384" name="Google Shape;384;p3"/>
          <p:cNvSpPr txBox="1"/>
          <p:nvPr/>
        </p:nvSpPr>
        <p:spPr>
          <a:xfrm>
            <a:off x="762000" y="609600"/>
            <a:ext cx="4572000" cy="17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a:solidFill>
                  <a:srgbClr val="F2A93B"/>
                </a:solidFill>
                <a:latin typeface="Space Grotesk"/>
                <a:ea typeface="Space Grotesk"/>
                <a:cs typeface="Space Grotesk"/>
                <a:sym typeface="Space Grotesk"/>
              </a:rPr>
              <a:t>SLIDE 03 / 12 • SOLUTION</a:t>
            </a:r>
            <a:endParaRPr/>
          </a:p>
        </p:txBody>
      </p:sp>
      <p:sp>
        <p:nvSpPr>
          <p:cNvPr id="385" name="Google Shape;385;p3"/>
          <p:cNvSpPr txBox="1"/>
          <p:nvPr/>
        </p:nvSpPr>
        <p:spPr>
          <a:xfrm>
            <a:off x="8060531" y="609600"/>
            <a:ext cx="3657600" cy="171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50" u="none">
                <a:solidFill>
                  <a:srgbClr val="A9B0CF"/>
                </a:solidFill>
                <a:latin typeface="Space Grotesk"/>
                <a:ea typeface="Space Grotesk"/>
                <a:cs typeface="Space Grotesk"/>
                <a:sym typeface="Space Grotesk"/>
              </a:rPr>
              <a:t>ZERO CLICKS</a:t>
            </a:r>
            <a:endParaRPr/>
          </a:p>
        </p:txBody>
      </p:sp>
      <p:sp>
        <p:nvSpPr>
          <p:cNvPr id="386" name="Google Shape;386;p3"/>
          <p:cNvSpPr/>
          <p:nvPr/>
        </p:nvSpPr>
        <p:spPr>
          <a:xfrm>
            <a:off x="758952" y="1828800"/>
            <a:ext cx="4937700" cy="3703200"/>
          </a:xfrm>
          <a:prstGeom prst="roundRect">
            <a:avLst>
              <a:gd fmla="val 6000" name="adj"/>
            </a:avLst>
          </a:prstGeom>
          <a:solidFill>
            <a:srgbClr val="10172A"/>
          </a:solidFill>
          <a:ln cap="flat" cmpd="sng" w="9525">
            <a:solidFill>
              <a:srgbClr val="2A33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3"/>
          <p:cNvSpPr txBox="1"/>
          <p:nvPr/>
        </p:nvSpPr>
        <p:spPr>
          <a:xfrm>
            <a:off x="1051560" y="2057400"/>
            <a:ext cx="4389000" cy="274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A9B0CF"/>
                </a:solidFill>
                <a:latin typeface="Plus Jakarta Sans"/>
                <a:ea typeface="Plus Jakarta Sans"/>
                <a:cs typeface="Plus Jakarta Sans"/>
                <a:sym typeface="Plus Jakarta Sans"/>
              </a:rPr>
              <a:t>TODAY</a:t>
            </a:r>
            <a:endParaRPr/>
          </a:p>
        </p:txBody>
      </p:sp>
      <p:sp>
        <p:nvSpPr>
          <p:cNvPr id="388" name="Google Shape;388;p3"/>
          <p:cNvSpPr/>
          <p:nvPr/>
        </p:nvSpPr>
        <p:spPr>
          <a:xfrm>
            <a:off x="1051560" y="2560320"/>
            <a:ext cx="365700" cy="365700"/>
          </a:xfrm>
          <a:prstGeom prst="ellipse">
            <a:avLst/>
          </a:prstGeom>
          <a:solidFill>
            <a:srgbClr val="161C2F"/>
          </a:solidFill>
          <a:ln cap="flat" cmpd="sng" w="9525">
            <a:solidFill>
              <a:srgbClr val="3A4366"/>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i="0" lang="en-US" sz="1200">
                <a:solidFill>
                  <a:srgbClr val="A9B0CF"/>
                </a:solidFill>
                <a:latin typeface="Plus Jakarta Sans"/>
                <a:ea typeface="Plus Jakarta Sans"/>
                <a:cs typeface="Plus Jakarta Sans"/>
                <a:sym typeface="Plus Jakarta Sans"/>
              </a:rPr>
              <a:t>1</a:t>
            </a:r>
            <a:endParaRPr/>
          </a:p>
        </p:txBody>
      </p:sp>
      <p:sp>
        <p:nvSpPr>
          <p:cNvPr id="389" name="Google Shape;389;p3"/>
          <p:cNvSpPr txBox="1"/>
          <p:nvPr/>
        </p:nvSpPr>
        <p:spPr>
          <a:xfrm>
            <a:off x="1600200" y="2606039"/>
            <a:ext cx="3840600" cy="365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a:solidFill>
                  <a:srgbClr val="A9B0CF"/>
                </a:solidFill>
                <a:latin typeface="Plus Jakarta Sans"/>
                <a:ea typeface="Plus Jakarta Sans"/>
                <a:cs typeface="Plus Jakarta Sans"/>
                <a:sym typeface="Plus Jakarta Sans"/>
              </a:rPr>
              <a:t>Fill in the expense form</a:t>
            </a:r>
            <a:endParaRPr/>
          </a:p>
        </p:txBody>
      </p:sp>
      <p:sp>
        <p:nvSpPr>
          <p:cNvPr id="390" name="Google Shape;390;p3"/>
          <p:cNvSpPr/>
          <p:nvPr/>
        </p:nvSpPr>
        <p:spPr>
          <a:xfrm>
            <a:off x="1051560" y="3246120"/>
            <a:ext cx="365700" cy="365700"/>
          </a:xfrm>
          <a:prstGeom prst="ellipse">
            <a:avLst/>
          </a:prstGeom>
          <a:solidFill>
            <a:srgbClr val="161C2F"/>
          </a:solidFill>
          <a:ln cap="flat" cmpd="sng" w="9525">
            <a:solidFill>
              <a:srgbClr val="3A4366"/>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i="0" lang="en-US" sz="1200">
                <a:solidFill>
                  <a:srgbClr val="A9B0CF"/>
                </a:solidFill>
                <a:latin typeface="Plus Jakarta Sans"/>
                <a:ea typeface="Plus Jakarta Sans"/>
                <a:cs typeface="Plus Jakarta Sans"/>
                <a:sym typeface="Plus Jakarta Sans"/>
              </a:rPr>
              <a:t>2</a:t>
            </a:r>
            <a:endParaRPr/>
          </a:p>
        </p:txBody>
      </p:sp>
      <p:sp>
        <p:nvSpPr>
          <p:cNvPr id="391" name="Google Shape;391;p3"/>
          <p:cNvSpPr txBox="1"/>
          <p:nvPr/>
        </p:nvSpPr>
        <p:spPr>
          <a:xfrm>
            <a:off x="1600200" y="3291839"/>
            <a:ext cx="3840600" cy="365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a:solidFill>
                  <a:srgbClr val="A9B0CF"/>
                </a:solidFill>
                <a:latin typeface="Plus Jakarta Sans"/>
                <a:ea typeface="Plus Jakarta Sans"/>
                <a:cs typeface="Plus Jakarta Sans"/>
                <a:sym typeface="Plus Jakarta Sans"/>
              </a:rPr>
              <a:t>Find and scan every receipt</a:t>
            </a:r>
            <a:endParaRPr/>
          </a:p>
        </p:txBody>
      </p:sp>
      <p:sp>
        <p:nvSpPr>
          <p:cNvPr id="392" name="Google Shape;392;p3"/>
          <p:cNvSpPr/>
          <p:nvPr/>
        </p:nvSpPr>
        <p:spPr>
          <a:xfrm>
            <a:off x="1051560" y="3931920"/>
            <a:ext cx="365700" cy="365700"/>
          </a:xfrm>
          <a:prstGeom prst="ellipse">
            <a:avLst/>
          </a:prstGeom>
          <a:solidFill>
            <a:srgbClr val="161C2F"/>
          </a:solidFill>
          <a:ln cap="flat" cmpd="sng" w="9525">
            <a:solidFill>
              <a:srgbClr val="3A4366"/>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i="0" lang="en-US" sz="1200">
                <a:solidFill>
                  <a:srgbClr val="A9B0CF"/>
                </a:solidFill>
                <a:latin typeface="Plus Jakarta Sans"/>
                <a:ea typeface="Plus Jakarta Sans"/>
                <a:cs typeface="Plus Jakarta Sans"/>
                <a:sym typeface="Plus Jakarta Sans"/>
              </a:rPr>
              <a:t>3</a:t>
            </a:r>
            <a:endParaRPr/>
          </a:p>
        </p:txBody>
      </p:sp>
      <p:sp>
        <p:nvSpPr>
          <p:cNvPr id="393" name="Google Shape;393;p3"/>
          <p:cNvSpPr txBox="1"/>
          <p:nvPr/>
        </p:nvSpPr>
        <p:spPr>
          <a:xfrm>
            <a:off x="1600200" y="3977639"/>
            <a:ext cx="3840600" cy="365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a:solidFill>
                  <a:srgbClr val="A9B0CF"/>
                </a:solidFill>
                <a:latin typeface="Plus Jakarta Sans"/>
                <a:ea typeface="Plus Jakarta Sans"/>
                <a:cs typeface="Plus Jakarta Sans"/>
                <a:sym typeface="Plus Jakarta Sans"/>
              </a:rPr>
              <a:t>Match card payments by hand</a:t>
            </a:r>
            <a:endParaRPr/>
          </a:p>
        </p:txBody>
      </p:sp>
      <p:sp>
        <p:nvSpPr>
          <p:cNvPr id="394" name="Google Shape;394;p3"/>
          <p:cNvSpPr/>
          <p:nvPr/>
        </p:nvSpPr>
        <p:spPr>
          <a:xfrm>
            <a:off x="1051560" y="4617720"/>
            <a:ext cx="365700" cy="365700"/>
          </a:xfrm>
          <a:prstGeom prst="ellipse">
            <a:avLst/>
          </a:prstGeom>
          <a:solidFill>
            <a:srgbClr val="161C2F"/>
          </a:solidFill>
          <a:ln cap="flat" cmpd="sng" w="9525">
            <a:solidFill>
              <a:srgbClr val="3A4366"/>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i="0" lang="en-US" sz="1200">
                <a:solidFill>
                  <a:srgbClr val="A9B0CF"/>
                </a:solidFill>
                <a:latin typeface="Plus Jakarta Sans"/>
                <a:ea typeface="Plus Jakarta Sans"/>
                <a:cs typeface="Plus Jakarta Sans"/>
                <a:sym typeface="Plus Jakarta Sans"/>
              </a:rPr>
              <a:t>4</a:t>
            </a:r>
            <a:endParaRPr/>
          </a:p>
        </p:txBody>
      </p:sp>
      <p:sp>
        <p:nvSpPr>
          <p:cNvPr id="395" name="Google Shape;395;p3"/>
          <p:cNvSpPr txBox="1"/>
          <p:nvPr/>
        </p:nvSpPr>
        <p:spPr>
          <a:xfrm>
            <a:off x="1600200" y="4663440"/>
            <a:ext cx="3840600" cy="365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a:solidFill>
                  <a:srgbClr val="A9B0CF"/>
                </a:solidFill>
                <a:latin typeface="Plus Jakarta Sans"/>
                <a:ea typeface="Plus Jakarta Sans"/>
                <a:cs typeface="Plus Jakarta Sans"/>
                <a:sym typeface="Plus Jakarta Sans"/>
              </a:rPr>
              <a:t>Wait for finance to check it</a:t>
            </a:r>
            <a:endParaRPr/>
          </a:p>
        </p:txBody>
      </p:sp>
      <p:cxnSp>
        <p:nvCxnSpPr>
          <p:cNvPr id="396" name="Google Shape;396;p3"/>
          <p:cNvCxnSpPr/>
          <p:nvPr/>
        </p:nvCxnSpPr>
        <p:spPr>
          <a:xfrm>
            <a:off x="5852160" y="3657600"/>
            <a:ext cx="548700" cy="0"/>
          </a:xfrm>
          <a:prstGeom prst="straightConnector1">
            <a:avLst/>
          </a:prstGeom>
          <a:noFill/>
          <a:ln cap="flat" cmpd="sng" w="38100">
            <a:solidFill>
              <a:srgbClr val="7C82EE"/>
            </a:solidFill>
            <a:prstDash val="solid"/>
            <a:round/>
            <a:headEnd len="sm" w="sm" type="none"/>
            <a:tailEnd len="med" w="med" type="triangle"/>
          </a:ln>
          <a:effectLst>
            <a:outerShdw blurRad="40000" rotWithShape="0" dir="5400000" dist="20000">
              <a:srgbClr val="000000">
                <a:alpha val="38040"/>
              </a:srgbClr>
            </a:outerShdw>
          </a:effectLst>
        </p:spPr>
      </p:cxnSp>
      <p:sp>
        <p:nvSpPr>
          <p:cNvPr id="397" name="Google Shape;397;p3"/>
          <p:cNvSpPr/>
          <p:nvPr/>
        </p:nvSpPr>
        <p:spPr>
          <a:xfrm>
            <a:off x="6492240" y="1828800"/>
            <a:ext cx="4937700" cy="3703200"/>
          </a:xfrm>
          <a:prstGeom prst="roundRect">
            <a:avLst>
              <a:gd fmla="val 6000" name="adj"/>
            </a:avLst>
          </a:prstGeom>
          <a:solidFill>
            <a:srgbClr val="161C2F"/>
          </a:solidFill>
          <a:ln cap="flat" cmpd="sng" w="15875">
            <a:solidFill>
              <a:srgbClr val="6A70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3"/>
          <p:cNvSpPr txBox="1"/>
          <p:nvPr/>
        </p:nvSpPr>
        <p:spPr>
          <a:xfrm>
            <a:off x="6784848" y="2057400"/>
            <a:ext cx="4389000" cy="274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F2A93B"/>
                </a:solidFill>
                <a:latin typeface="Plus Jakarta Sans"/>
                <a:ea typeface="Plus Jakarta Sans"/>
                <a:cs typeface="Plus Jakarta Sans"/>
                <a:sym typeface="Plus Jakarta Sans"/>
              </a:rPr>
              <a:t>WITH PERDIEMO</a:t>
            </a:r>
            <a:endParaRPr/>
          </a:p>
        </p:txBody>
      </p:sp>
      <p:sp>
        <p:nvSpPr>
          <p:cNvPr id="399" name="Google Shape;399;p3"/>
          <p:cNvSpPr/>
          <p:nvPr/>
        </p:nvSpPr>
        <p:spPr>
          <a:xfrm>
            <a:off x="8138160" y="2514600"/>
            <a:ext cx="3017400" cy="546600"/>
          </a:xfrm>
          <a:prstGeom prst="roundRect">
            <a:avLst>
              <a:gd fmla="val 30000" name="adj"/>
            </a:avLst>
          </a:prstGeom>
          <a:solidFill>
            <a:srgbClr val="6A70E0"/>
          </a:solidFill>
          <a:ln>
            <a:noFill/>
          </a:ln>
        </p:spPr>
        <p:txBody>
          <a:bodyPr anchorCtr="0" anchor="ctr" bIns="115200" lIns="164575" spcFirstLastPara="1" rIns="164575" wrap="square" tIns="115200">
            <a:noAutofit/>
          </a:bodyPr>
          <a:lstStyle/>
          <a:p>
            <a:pPr indent="0" lvl="0" marL="0" marR="0" rtl="0" algn="l">
              <a:spcBef>
                <a:spcPts val="0"/>
              </a:spcBef>
              <a:spcAft>
                <a:spcPts val="0"/>
              </a:spcAft>
              <a:buNone/>
            </a:pPr>
            <a:r>
              <a:rPr b="0" i="0" lang="en-US" sz="1600">
                <a:solidFill>
                  <a:srgbClr val="FFFFFF"/>
                </a:solidFill>
                <a:latin typeface="Plus Jakarta Sans"/>
                <a:ea typeface="Plus Jakarta Sans"/>
                <a:cs typeface="Plus Jakarta Sans"/>
                <a:sym typeface="Plus Jakarta Sans"/>
              </a:rPr>
              <a:t>Close my trip to Munich.</a:t>
            </a:r>
            <a:endParaRPr/>
          </a:p>
        </p:txBody>
      </p:sp>
      <p:sp>
        <p:nvSpPr>
          <p:cNvPr id="400" name="Google Shape;400;p3"/>
          <p:cNvSpPr/>
          <p:nvPr/>
        </p:nvSpPr>
        <p:spPr>
          <a:xfrm>
            <a:off x="6784848" y="3289808"/>
            <a:ext cx="3931800" cy="737100"/>
          </a:xfrm>
          <a:prstGeom prst="roundRect">
            <a:avLst>
              <a:gd fmla="val 30000" name="adj"/>
            </a:avLst>
          </a:prstGeom>
          <a:solidFill>
            <a:srgbClr val="161C2F"/>
          </a:solidFill>
          <a:ln cap="flat" cmpd="sng" w="9525">
            <a:solidFill>
              <a:srgbClr val="2A3352"/>
            </a:solidFill>
            <a:prstDash val="solid"/>
            <a:round/>
            <a:headEnd len="sm" w="sm" type="none"/>
            <a:tailEnd len="sm" w="sm" type="none"/>
          </a:ln>
        </p:spPr>
        <p:txBody>
          <a:bodyPr anchorCtr="0" anchor="ctr" bIns="115200" lIns="164575" spcFirstLastPara="1" rIns="164575" wrap="square" tIns="115200">
            <a:noAutofit/>
          </a:bodyPr>
          <a:lstStyle/>
          <a:p>
            <a:pPr indent="0" lvl="0" marL="0" marR="0" rtl="0" algn="l">
              <a:spcBef>
                <a:spcPts val="0"/>
              </a:spcBef>
              <a:spcAft>
                <a:spcPts val="0"/>
              </a:spcAft>
              <a:buNone/>
            </a:pPr>
            <a:r>
              <a:rPr b="0" i="0" lang="en-US" sz="1400">
                <a:solidFill>
                  <a:srgbClr val="F1F3FA"/>
                </a:solidFill>
                <a:latin typeface="Plus Jakarta Sans"/>
                <a:ea typeface="Plus Jakarta Sans"/>
                <a:cs typeface="Plus Jakarta Sans"/>
                <a:sym typeface="Plus Jakarta Sans"/>
              </a:rPr>
              <a:t>Done. 9 card payments matched, per diems calculated by law.</a:t>
            </a:r>
            <a:endParaRPr/>
          </a:p>
        </p:txBody>
      </p:sp>
      <p:sp>
        <p:nvSpPr>
          <p:cNvPr id="401" name="Google Shape;401;p3"/>
          <p:cNvSpPr/>
          <p:nvPr/>
        </p:nvSpPr>
        <p:spPr>
          <a:xfrm>
            <a:off x="6784848" y="4255516"/>
            <a:ext cx="4370700" cy="640200"/>
          </a:xfrm>
          <a:prstGeom prst="roundRect">
            <a:avLst>
              <a:gd fmla="val 6000" name="adj"/>
            </a:avLst>
          </a:prstGeom>
          <a:solidFill>
            <a:srgbClr val="0F2A24"/>
          </a:solidFill>
          <a:ln cap="flat" cmpd="sng" w="9525">
            <a:solidFill>
              <a:srgbClr val="2F8F6E"/>
            </a:solidFill>
            <a:prstDash val="solid"/>
            <a:round/>
            <a:headEnd len="sm" w="sm" type="none"/>
            <a:tailEnd len="sm" w="sm" type="none"/>
          </a:ln>
        </p:spPr>
        <p:txBody>
          <a:bodyPr anchorCtr="0" anchor="ctr" bIns="128000" lIns="182875" spcFirstLastPara="1" rIns="182875" wrap="square" tIns="128000">
            <a:noAutofit/>
          </a:bodyPr>
          <a:lstStyle/>
          <a:p>
            <a:pPr indent="0" lvl="0" marL="0" marR="0" rtl="0" algn="l">
              <a:spcBef>
                <a:spcPts val="0"/>
              </a:spcBef>
              <a:spcAft>
                <a:spcPts val="0"/>
              </a:spcAft>
              <a:buNone/>
            </a:pPr>
            <a:r>
              <a:rPr b="1" i="0" lang="en-US" sz="1500">
                <a:solidFill>
                  <a:srgbClr val="3FC79A"/>
                </a:solidFill>
                <a:latin typeface="Plus Jakarta Sans"/>
                <a:ea typeface="Plus Jakarta Sans"/>
                <a:cs typeface="Plus Jakarta Sans"/>
                <a:sym typeface="Plus Jakarta Sans"/>
              </a:rPr>
              <a:t>✓  </a:t>
            </a:r>
            <a:r>
              <a:rPr b="1" i="0" lang="en-US" sz="1500">
                <a:solidFill>
                  <a:srgbClr val="F1F3FA"/>
                </a:solidFill>
                <a:latin typeface="Plus Jakarta Sans"/>
                <a:ea typeface="Plus Jakarta Sans"/>
                <a:cs typeface="Plus Jakarta Sans"/>
                <a:sym typeface="Plus Jakarta Sans"/>
              </a:rPr>
              <a:t>CZK 7,997.40 sent to Martin</a:t>
            </a:r>
            <a:endParaRPr/>
          </a:p>
        </p:txBody>
      </p:sp>
      <p:sp>
        <p:nvSpPr>
          <p:cNvPr id="402" name="Google Shape;402;p3"/>
          <p:cNvSpPr/>
          <p:nvPr/>
        </p:nvSpPr>
        <p:spPr>
          <a:xfrm>
            <a:off x="758952" y="5806440"/>
            <a:ext cx="10671000" cy="548700"/>
          </a:xfrm>
          <a:prstGeom prst="roundRect">
            <a:avLst>
              <a:gd fmla="val 6000" name="adj"/>
            </a:avLst>
          </a:prstGeom>
          <a:solidFill>
            <a:srgbClr val="1E2463"/>
          </a:solidFill>
          <a:ln>
            <a:noFill/>
          </a:ln>
        </p:spPr>
        <p:txBody>
          <a:bodyPr anchorCtr="0" anchor="ctr" bIns="128000" lIns="182875" spcFirstLastPara="1" rIns="182875" wrap="square" tIns="128000">
            <a:noAutofit/>
          </a:bodyPr>
          <a:lstStyle/>
          <a:p>
            <a:pPr indent="0" lvl="0" marL="0" marR="0" rtl="0" algn="ctr">
              <a:spcBef>
                <a:spcPts val="0"/>
              </a:spcBef>
              <a:spcAft>
                <a:spcPts val="0"/>
              </a:spcAft>
              <a:buNone/>
            </a:pPr>
            <a:r>
              <a:rPr b="1" i="0" lang="en-US" sz="1400">
                <a:solidFill>
                  <a:srgbClr val="F1F3FA"/>
                </a:solidFill>
                <a:latin typeface="Plus Jakarta Sans"/>
                <a:ea typeface="Plus Jakarta Sans"/>
                <a:cs typeface="Plus Jakarta Sans"/>
                <a:sym typeface="Plus Jakarta Sans"/>
              </a:rPr>
              <a:t>Before: </a:t>
            </a:r>
            <a:r>
              <a:rPr b="0" i="0" lang="en-US" sz="1400">
                <a:solidFill>
                  <a:srgbClr val="F1F3FA"/>
                </a:solidFill>
                <a:latin typeface="Plus Jakarta Sans"/>
                <a:ea typeface="Plus Jakarta Sans"/>
                <a:cs typeface="Plus Jakarta Sans"/>
                <a:sym typeface="Plus Jakarta Sans"/>
              </a:rPr>
              <a:t>one sentence → a legal travel claim.     </a:t>
            </a:r>
            <a:r>
              <a:rPr b="1" i="0" lang="en-US" sz="1400">
                <a:solidFill>
                  <a:srgbClr val="7C82EE"/>
                </a:solidFill>
                <a:latin typeface="Plus Jakarta Sans"/>
                <a:ea typeface="Plus Jakarta Sans"/>
                <a:cs typeface="Plus Jakarta Sans"/>
                <a:sym typeface="Plus Jakarta Sans"/>
              </a:rPr>
              <a:t>Now: </a:t>
            </a:r>
            <a:r>
              <a:rPr b="0" i="0" lang="en-US" sz="1400">
                <a:solidFill>
                  <a:srgbClr val="7C82EE"/>
                </a:solidFill>
                <a:latin typeface="Plus Jakarta Sans"/>
                <a:ea typeface="Plus Jakarta Sans"/>
                <a:cs typeface="Plus Jakarta Sans"/>
                <a:sym typeface="Plus Jakarta Sans"/>
              </a:rPr>
              <a:t>card payments → money in the account.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406" name="Shape 406"/>
        <p:cNvGrpSpPr/>
        <p:nvPr/>
      </p:nvGrpSpPr>
      <p:grpSpPr>
        <a:xfrm>
          <a:off x="0" y="0"/>
          <a:ext cx="0" cy="0"/>
          <a:chOff x="0" y="0"/>
          <a:chExt cx="0" cy="0"/>
        </a:xfrm>
      </p:grpSpPr>
      <p:sp>
        <p:nvSpPr>
          <p:cNvPr id="407" name="Google Shape;407;p8"/>
          <p:cNvSpPr txBox="1"/>
          <p:nvPr/>
        </p:nvSpPr>
        <p:spPr>
          <a:xfrm>
            <a:off x="762000" y="1009650"/>
            <a:ext cx="1060704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700" u="none">
                <a:solidFill>
                  <a:srgbClr val="F1F3FA"/>
                </a:solidFill>
                <a:latin typeface="Plus Jakarta Sans"/>
                <a:ea typeface="Plus Jakarta Sans"/>
                <a:cs typeface="Plus Jakarta Sans"/>
                <a:sym typeface="Plus Jakarta Sans"/>
              </a:rPr>
              <a:t>Team: product, AI and go-to-market</a:t>
            </a:r>
            <a:endParaRPr/>
          </a:p>
        </p:txBody>
      </p:sp>
      <p:sp>
        <p:nvSpPr>
          <p:cNvPr id="408" name="Google Shape;408;p8"/>
          <p:cNvSpPr txBox="1"/>
          <p:nvPr/>
        </p:nvSpPr>
        <p:spPr>
          <a:xfrm>
            <a:off x="762000" y="609600"/>
            <a:ext cx="45720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a:solidFill>
                  <a:srgbClr val="F2A93B"/>
                </a:solidFill>
                <a:latin typeface="Space Grotesk"/>
                <a:ea typeface="Space Grotesk"/>
                <a:cs typeface="Space Grotesk"/>
                <a:sym typeface="Space Grotesk"/>
              </a:rPr>
              <a:t>SLIDE 08 / 12 • TEAM</a:t>
            </a:r>
            <a:endParaRPr/>
          </a:p>
        </p:txBody>
      </p:sp>
      <p:sp>
        <p:nvSpPr>
          <p:cNvPr id="409" name="Google Shape;409;p8"/>
          <p:cNvSpPr txBox="1"/>
          <p:nvPr/>
        </p:nvSpPr>
        <p:spPr>
          <a:xfrm>
            <a:off x="8058150" y="609600"/>
            <a:ext cx="3657600"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50" u="none">
                <a:solidFill>
                  <a:srgbClr val="A9B0CF"/>
                </a:solidFill>
                <a:latin typeface="Space Grotesk"/>
                <a:ea typeface="Space Grotesk"/>
                <a:cs typeface="Space Grotesk"/>
                <a:sym typeface="Space Grotesk"/>
              </a:rPr>
              <a:t>WHY US</a:t>
            </a:r>
            <a:endParaRPr/>
          </a:p>
        </p:txBody>
      </p:sp>
      <p:sp>
        <p:nvSpPr>
          <p:cNvPr id="410" name="Google Shape;410;p8"/>
          <p:cNvSpPr/>
          <p:nvPr/>
        </p:nvSpPr>
        <p:spPr>
          <a:xfrm>
            <a:off x="1020927" y="1828800"/>
            <a:ext cx="3108960" cy="3657600"/>
          </a:xfrm>
          <a:prstGeom prst="roundRect">
            <a:avLst>
              <a:gd fmla="val 6000" name="adj"/>
            </a:avLst>
          </a:prstGeom>
          <a:solidFill>
            <a:srgbClr val="161C2F"/>
          </a:solidFill>
          <a:ln cap="flat" cmpd="sng" w="9525">
            <a:solidFill>
              <a:srgbClr val="2A33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martin_crop.jpg" id="411" name="Google Shape;411;p8"/>
          <p:cNvPicPr preferRelativeResize="0"/>
          <p:nvPr/>
        </p:nvPicPr>
        <p:blipFill rotWithShape="1">
          <a:blip r:embed="rId3">
            <a:alphaModFix/>
          </a:blip>
          <a:srcRect b="0" l="0" r="0" t="0"/>
          <a:stretch/>
        </p:blipFill>
        <p:spPr>
          <a:xfrm>
            <a:off x="1798167" y="2148840"/>
            <a:ext cx="1554600" cy="1554600"/>
          </a:xfrm>
          <a:prstGeom prst="ellipse">
            <a:avLst/>
          </a:prstGeom>
          <a:noFill/>
          <a:ln cap="flat" cmpd="sng" w="25400">
            <a:solidFill>
              <a:srgbClr val="6A70E0"/>
            </a:solidFill>
            <a:prstDash val="solid"/>
            <a:round/>
            <a:headEnd len="sm" w="sm" type="none"/>
            <a:tailEnd len="sm" w="sm" type="none"/>
          </a:ln>
        </p:spPr>
      </p:pic>
      <p:sp>
        <p:nvSpPr>
          <p:cNvPr id="412" name="Google Shape;412;p8"/>
          <p:cNvSpPr txBox="1"/>
          <p:nvPr/>
        </p:nvSpPr>
        <p:spPr>
          <a:xfrm>
            <a:off x="1249527" y="3931920"/>
            <a:ext cx="2651760" cy="36576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a:solidFill>
                  <a:srgbClr val="F1F3FA"/>
                </a:solidFill>
                <a:latin typeface="Plus Jakarta Sans"/>
                <a:ea typeface="Plus Jakarta Sans"/>
                <a:cs typeface="Plus Jakarta Sans"/>
                <a:sym typeface="Plus Jakarta Sans"/>
              </a:rPr>
              <a:t>Martin Michalik</a:t>
            </a:r>
            <a:endParaRPr/>
          </a:p>
        </p:txBody>
      </p:sp>
      <p:sp>
        <p:nvSpPr>
          <p:cNvPr id="413" name="Google Shape;413;p8"/>
          <p:cNvSpPr txBox="1"/>
          <p:nvPr/>
        </p:nvSpPr>
        <p:spPr>
          <a:xfrm>
            <a:off x="1249527" y="4389120"/>
            <a:ext cx="2651760" cy="914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300">
                <a:solidFill>
                  <a:srgbClr val="A9B0CF"/>
                </a:solidFill>
                <a:latin typeface="Plus Jakarta Sans"/>
                <a:ea typeface="Plus Jakarta Sans"/>
                <a:cs typeface="Plus Jakarta Sans"/>
                <a:sym typeface="Plus Jakarta Sans"/>
              </a:rPr>
              <a:t>Founder of PerDiemo. Product, AI and the Labour Code engine.</a:t>
            </a:r>
            <a:endParaRPr/>
          </a:p>
        </p:txBody>
      </p:sp>
      <p:sp>
        <p:nvSpPr>
          <p:cNvPr id="414" name="Google Shape;414;p8"/>
          <p:cNvSpPr/>
          <p:nvPr/>
        </p:nvSpPr>
        <p:spPr>
          <a:xfrm>
            <a:off x="4541367" y="1828800"/>
            <a:ext cx="3108960" cy="3657600"/>
          </a:xfrm>
          <a:prstGeom prst="roundRect">
            <a:avLst>
              <a:gd fmla="val 6000" name="adj"/>
            </a:avLst>
          </a:prstGeom>
          <a:solidFill>
            <a:srgbClr val="161C2F"/>
          </a:solidFill>
          <a:ln cap="flat" cmpd="sng" w="9525">
            <a:solidFill>
              <a:srgbClr val="2A33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iro.jpg" id="415" name="Google Shape;415;p8"/>
          <p:cNvPicPr preferRelativeResize="0"/>
          <p:nvPr/>
        </p:nvPicPr>
        <p:blipFill rotWithShape="1">
          <a:blip r:embed="rId4">
            <a:alphaModFix/>
          </a:blip>
          <a:srcRect b="0" l="0" r="0" t="0"/>
          <a:stretch/>
        </p:blipFill>
        <p:spPr>
          <a:xfrm>
            <a:off x="5318607" y="2148840"/>
            <a:ext cx="1554480" cy="1554480"/>
          </a:xfrm>
          <a:prstGeom prst="ellipse">
            <a:avLst/>
          </a:prstGeom>
          <a:noFill/>
          <a:ln cap="flat" cmpd="sng" w="25400">
            <a:solidFill>
              <a:srgbClr val="6A70E0"/>
            </a:solidFill>
            <a:prstDash val="solid"/>
            <a:round/>
            <a:headEnd len="sm" w="sm" type="none"/>
            <a:tailEnd len="sm" w="sm" type="none"/>
          </a:ln>
        </p:spPr>
      </p:pic>
      <p:sp>
        <p:nvSpPr>
          <p:cNvPr id="416" name="Google Shape;416;p8"/>
          <p:cNvSpPr txBox="1"/>
          <p:nvPr/>
        </p:nvSpPr>
        <p:spPr>
          <a:xfrm>
            <a:off x="4769967" y="3931920"/>
            <a:ext cx="2651760" cy="36576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a:solidFill>
                  <a:srgbClr val="F1F3FA"/>
                </a:solidFill>
                <a:latin typeface="Plus Jakarta Sans"/>
                <a:ea typeface="Plus Jakarta Sans"/>
                <a:cs typeface="Plus Jakarta Sans"/>
                <a:sym typeface="Plus Jakarta Sans"/>
              </a:rPr>
              <a:t>Hiro M</a:t>
            </a:r>
            <a:endParaRPr/>
          </a:p>
        </p:txBody>
      </p:sp>
      <p:sp>
        <p:nvSpPr>
          <p:cNvPr id="417" name="Google Shape;417;p8"/>
          <p:cNvSpPr txBox="1"/>
          <p:nvPr/>
        </p:nvSpPr>
        <p:spPr>
          <a:xfrm>
            <a:off x="4769967" y="4389120"/>
            <a:ext cx="2651700" cy="400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300">
                <a:solidFill>
                  <a:srgbClr val="A9B0CF"/>
                </a:solidFill>
                <a:latin typeface="Plus Jakarta Sans"/>
                <a:ea typeface="Plus Jakarta Sans"/>
                <a:cs typeface="Plus Jakarta Sans"/>
                <a:sym typeface="Plus Jakarta Sans"/>
              </a:rPr>
              <a:t>DevOps Engineer</a:t>
            </a:r>
            <a:endParaRPr sz="1300">
              <a:solidFill>
                <a:srgbClr val="A9B0CF"/>
              </a:solidFill>
              <a:latin typeface="Plus Jakarta Sans"/>
              <a:ea typeface="Plus Jakarta Sans"/>
              <a:cs typeface="Plus Jakarta Sans"/>
              <a:sym typeface="Plus Jakarta Sans"/>
            </a:endParaRPr>
          </a:p>
          <a:p>
            <a:pPr indent="0" lvl="0" marL="0" marR="0" rtl="0" algn="ctr">
              <a:spcBef>
                <a:spcPts val="0"/>
              </a:spcBef>
              <a:spcAft>
                <a:spcPts val="0"/>
              </a:spcAft>
              <a:buNone/>
            </a:pPr>
            <a:r>
              <a:rPr lang="en-US" sz="1300">
                <a:solidFill>
                  <a:srgbClr val="A9B0CF"/>
                </a:solidFill>
                <a:latin typeface="Plus Jakarta Sans"/>
                <a:ea typeface="Plus Jakarta Sans"/>
                <a:cs typeface="Plus Jakarta Sans"/>
                <a:sym typeface="Plus Jakarta Sans"/>
              </a:rPr>
              <a:t>Python Expert</a:t>
            </a:r>
            <a:endParaRPr sz="1300">
              <a:solidFill>
                <a:srgbClr val="A9B0CF"/>
              </a:solidFill>
              <a:latin typeface="Plus Jakarta Sans"/>
              <a:ea typeface="Plus Jakarta Sans"/>
              <a:cs typeface="Plus Jakarta Sans"/>
              <a:sym typeface="Plus Jakarta Sans"/>
            </a:endParaRPr>
          </a:p>
        </p:txBody>
      </p:sp>
      <p:sp>
        <p:nvSpPr>
          <p:cNvPr id="418" name="Google Shape;418;p8"/>
          <p:cNvSpPr/>
          <p:nvPr/>
        </p:nvSpPr>
        <p:spPr>
          <a:xfrm>
            <a:off x="8061807" y="1828800"/>
            <a:ext cx="3108960" cy="3657600"/>
          </a:xfrm>
          <a:prstGeom prst="roundRect">
            <a:avLst>
              <a:gd fmla="val 6000" name="adj"/>
            </a:avLst>
          </a:prstGeom>
          <a:solidFill>
            <a:srgbClr val="161C2F"/>
          </a:solidFill>
          <a:ln cap="flat" cmpd="sng" w="9525">
            <a:solidFill>
              <a:srgbClr val="2A33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dana.jpg" id="419" name="Google Shape;419;p8"/>
          <p:cNvPicPr preferRelativeResize="0"/>
          <p:nvPr/>
        </p:nvPicPr>
        <p:blipFill rotWithShape="1">
          <a:blip r:embed="rId5">
            <a:alphaModFix/>
          </a:blip>
          <a:srcRect b="0" l="0" r="0" t="0"/>
          <a:stretch/>
        </p:blipFill>
        <p:spPr>
          <a:xfrm>
            <a:off x="8839047" y="2148840"/>
            <a:ext cx="1554480" cy="1554480"/>
          </a:xfrm>
          <a:prstGeom prst="ellipse">
            <a:avLst/>
          </a:prstGeom>
          <a:noFill/>
          <a:ln cap="flat" cmpd="sng" w="25400">
            <a:solidFill>
              <a:srgbClr val="6A70E0"/>
            </a:solidFill>
            <a:prstDash val="solid"/>
            <a:round/>
            <a:headEnd len="sm" w="sm" type="none"/>
            <a:tailEnd len="sm" w="sm" type="none"/>
          </a:ln>
        </p:spPr>
      </p:pic>
      <p:sp>
        <p:nvSpPr>
          <p:cNvPr id="420" name="Google Shape;420;p8"/>
          <p:cNvSpPr txBox="1"/>
          <p:nvPr/>
        </p:nvSpPr>
        <p:spPr>
          <a:xfrm>
            <a:off x="8290407" y="3931920"/>
            <a:ext cx="2651760" cy="36576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a:solidFill>
                  <a:srgbClr val="F1F3FA"/>
                </a:solidFill>
                <a:latin typeface="Plus Jakarta Sans"/>
                <a:ea typeface="Plus Jakarta Sans"/>
                <a:cs typeface="Plus Jakarta Sans"/>
                <a:sym typeface="Plus Jakarta Sans"/>
              </a:rPr>
              <a:t>Dana Hrušková</a:t>
            </a:r>
            <a:endParaRPr/>
          </a:p>
        </p:txBody>
      </p:sp>
      <p:sp>
        <p:nvSpPr>
          <p:cNvPr id="421" name="Google Shape;421;p8"/>
          <p:cNvSpPr txBox="1"/>
          <p:nvPr/>
        </p:nvSpPr>
        <p:spPr>
          <a:xfrm>
            <a:off x="8290407" y="4389120"/>
            <a:ext cx="2651760" cy="914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300">
                <a:solidFill>
                  <a:srgbClr val="A9B0CF"/>
                </a:solidFill>
                <a:latin typeface="Plus Jakarta Sans"/>
                <a:ea typeface="Plus Jakarta Sans"/>
                <a:cs typeface="Plus Jakarta Sans"/>
                <a:sym typeface="Plus Jakarta Sans"/>
              </a:rPr>
              <a:t>Go-to-market, onboarding and customer success in B2B SaaS.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425" name="Shape 425"/>
        <p:cNvGrpSpPr/>
        <p:nvPr/>
      </p:nvGrpSpPr>
      <p:grpSpPr>
        <a:xfrm>
          <a:off x="0" y="0"/>
          <a:ext cx="0" cy="0"/>
          <a:chOff x="0" y="0"/>
          <a:chExt cx="0" cy="0"/>
        </a:xfrm>
      </p:grpSpPr>
      <p:sp>
        <p:nvSpPr>
          <p:cNvPr id="426" name="Google Shape;426;p9"/>
          <p:cNvSpPr txBox="1"/>
          <p:nvPr/>
        </p:nvSpPr>
        <p:spPr>
          <a:xfrm>
            <a:off x="762000" y="1009650"/>
            <a:ext cx="10607100" cy="41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700" u="none">
                <a:solidFill>
                  <a:srgbClr val="F1F3FA"/>
                </a:solidFill>
                <a:latin typeface="Plus Jakarta Sans"/>
                <a:ea typeface="Plus Jakarta Sans"/>
                <a:cs typeface="Plus Jakarta Sans"/>
                <a:sym typeface="Plus Jakarta Sans"/>
              </a:rPr>
              <a:t>Stack: what we built on top of</a:t>
            </a:r>
            <a:endParaRPr b="1" i="0" sz="2700" u="none">
              <a:solidFill>
                <a:srgbClr val="0F172A"/>
              </a:solidFill>
              <a:latin typeface="Plus Jakarta Sans"/>
              <a:ea typeface="Plus Jakarta Sans"/>
              <a:cs typeface="Plus Jakarta Sans"/>
              <a:sym typeface="Plus Jakarta Sans"/>
            </a:endParaRPr>
          </a:p>
        </p:txBody>
      </p:sp>
      <p:sp>
        <p:nvSpPr>
          <p:cNvPr id="427" name="Google Shape;427;p9"/>
          <p:cNvSpPr txBox="1"/>
          <p:nvPr/>
        </p:nvSpPr>
        <p:spPr>
          <a:xfrm>
            <a:off x="762000" y="609600"/>
            <a:ext cx="45720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a:solidFill>
                  <a:srgbClr val="F2A93B"/>
                </a:solidFill>
                <a:latin typeface="Space Grotesk"/>
                <a:ea typeface="Space Grotesk"/>
                <a:cs typeface="Space Grotesk"/>
                <a:sym typeface="Space Grotesk"/>
              </a:rPr>
              <a:t>SLIDE 09 / 12 • STACK</a:t>
            </a:r>
            <a:endParaRPr b="1" i="0" sz="1050" u="none">
              <a:solidFill>
                <a:srgbClr val="2563EB"/>
              </a:solidFill>
              <a:latin typeface="Space Grotesk"/>
              <a:ea typeface="Space Grotesk"/>
              <a:cs typeface="Space Grotesk"/>
              <a:sym typeface="Space Grotesk"/>
            </a:endParaRPr>
          </a:p>
        </p:txBody>
      </p:sp>
      <p:sp>
        <p:nvSpPr>
          <p:cNvPr id="428" name="Google Shape;428;p9"/>
          <p:cNvSpPr txBox="1"/>
          <p:nvPr/>
        </p:nvSpPr>
        <p:spPr>
          <a:xfrm>
            <a:off x="8058150" y="609600"/>
            <a:ext cx="3657600" cy="171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50" u="none">
                <a:solidFill>
                  <a:srgbClr val="A9B0CF"/>
                </a:solidFill>
                <a:latin typeface="Space Grotesk"/>
                <a:ea typeface="Space Grotesk"/>
                <a:cs typeface="Space Grotesk"/>
                <a:sym typeface="Space Grotesk"/>
              </a:rPr>
              <a:t>WHAT WE BUILT ON</a:t>
            </a:r>
            <a:endParaRPr/>
          </a:p>
        </p:txBody>
      </p:sp>
      <p:sp>
        <p:nvSpPr>
          <p:cNvPr id="429" name="Google Shape;429;p9"/>
          <p:cNvSpPr/>
          <p:nvPr/>
        </p:nvSpPr>
        <p:spPr>
          <a:xfrm>
            <a:off x="1828800" y="1783080"/>
            <a:ext cx="8503800" cy="749700"/>
          </a:xfrm>
          <a:prstGeom prst="roundRect">
            <a:avLst>
              <a:gd fmla="val 6000" name="adj"/>
            </a:avLst>
          </a:prstGeom>
          <a:solidFill>
            <a:srgbClr val="161C2F"/>
          </a:solidFill>
          <a:ln cap="flat" cmpd="sng" w="9525">
            <a:solidFill>
              <a:srgbClr val="2A3352"/>
            </a:solidFill>
            <a:prstDash val="solid"/>
            <a:round/>
            <a:headEnd len="sm" w="sm" type="none"/>
            <a:tailEnd len="sm" w="sm" type="none"/>
          </a:ln>
        </p:spPr>
        <p:txBody>
          <a:bodyPr anchorCtr="0" anchor="ctr" bIns="128000" lIns="182875" spcFirstLastPara="1" rIns="182875" wrap="square" tIns="128000">
            <a:noAutofit/>
          </a:bodyPr>
          <a:lstStyle/>
          <a:p>
            <a:pPr indent="0" lvl="0" marL="0" marR="0" rtl="0" algn="l">
              <a:spcBef>
                <a:spcPts val="0"/>
              </a:spcBef>
              <a:spcAft>
                <a:spcPts val="0"/>
              </a:spcAft>
              <a:buNone/>
            </a:pPr>
            <a:r>
              <a:rPr b="1" i="0" lang="en-US" sz="1200">
                <a:solidFill>
                  <a:srgbClr val="7C82EE"/>
                </a:solidFill>
                <a:latin typeface="Plus Jakarta Sans"/>
                <a:ea typeface="Plus Jakarta Sans"/>
                <a:cs typeface="Plus Jakarta Sans"/>
                <a:sym typeface="Plus Jakarta Sans"/>
              </a:rPr>
              <a:t>DATA   </a:t>
            </a:r>
            <a:r>
              <a:rPr b="0" i="0" lang="en-US" sz="1600">
                <a:solidFill>
                  <a:srgbClr val="F1F3FA"/>
                </a:solidFill>
                <a:latin typeface="Plus Jakarta Sans"/>
                <a:ea typeface="Plus Jakarta Sans"/>
                <a:cs typeface="Plus Jakarta Sans"/>
                <a:sym typeface="Plus Jakarta Sans"/>
              </a:rPr>
              <a:t>Business card transactions · receipts</a:t>
            </a:r>
            <a:endParaRPr/>
          </a:p>
        </p:txBody>
      </p:sp>
      <p:cxnSp>
        <p:nvCxnSpPr>
          <p:cNvPr id="430" name="Google Shape;430;p9"/>
          <p:cNvCxnSpPr/>
          <p:nvPr/>
        </p:nvCxnSpPr>
        <p:spPr>
          <a:xfrm>
            <a:off x="6080760" y="2551176"/>
            <a:ext cx="0" cy="201300"/>
          </a:xfrm>
          <a:prstGeom prst="straightConnector1">
            <a:avLst/>
          </a:prstGeom>
          <a:noFill/>
          <a:ln cap="flat" cmpd="sng" w="25400">
            <a:solidFill>
              <a:srgbClr val="7C82EE"/>
            </a:solidFill>
            <a:prstDash val="solid"/>
            <a:round/>
            <a:headEnd len="sm" w="sm" type="none"/>
            <a:tailEnd len="med" w="med" type="triangle"/>
          </a:ln>
          <a:effectLst>
            <a:outerShdw blurRad="40000" rotWithShape="0" dir="5400000" dist="20000">
              <a:srgbClr val="000000">
                <a:alpha val="38040"/>
              </a:srgbClr>
            </a:outerShdw>
          </a:effectLst>
        </p:spPr>
      </p:cxnSp>
      <p:sp>
        <p:nvSpPr>
          <p:cNvPr id="431" name="Google Shape;431;p9"/>
          <p:cNvSpPr/>
          <p:nvPr/>
        </p:nvSpPr>
        <p:spPr>
          <a:xfrm>
            <a:off x="1828800" y="2788920"/>
            <a:ext cx="8503800" cy="749700"/>
          </a:xfrm>
          <a:prstGeom prst="roundRect">
            <a:avLst>
              <a:gd fmla="val 6000" name="adj"/>
            </a:avLst>
          </a:prstGeom>
          <a:solidFill>
            <a:srgbClr val="1E2463"/>
          </a:solidFill>
          <a:ln cap="flat" cmpd="sng" w="9525">
            <a:solidFill>
              <a:srgbClr val="7C82EE"/>
            </a:solidFill>
            <a:prstDash val="solid"/>
            <a:round/>
            <a:headEnd len="sm" w="sm" type="none"/>
            <a:tailEnd len="sm" w="sm" type="none"/>
          </a:ln>
        </p:spPr>
        <p:txBody>
          <a:bodyPr anchorCtr="0" anchor="ctr" bIns="128000" lIns="182875" spcFirstLastPara="1" rIns="182875" wrap="square" tIns="128000">
            <a:noAutofit/>
          </a:bodyPr>
          <a:lstStyle/>
          <a:p>
            <a:pPr indent="0" lvl="0" marL="0" marR="0" rtl="0" algn="l">
              <a:spcBef>
                <a:spcPts val="0"/>
              </a:spcBef>
              <a:spcAft>
                <a:spcPts val="0"/>
              </a:spcAft>
              <a:buNone/>
            </a:pPr>
            <a:r>
              <a:rPr b="1" i="0" lang="en-US" sz="1200">
                <a:solidFill>
                  <a:srgbClr val="7C82EE"/>
                </a:solidFill>
                <a:latin typeface="Plus Jakarta Sans"/>
                <a:ea typeface="Plus Jakarta Sans"/>
                <a:cs typeface="Plus Jakarta Sans"/>
                <a:sym typeface="Plus Jakarta Sans"/>
              </a:rPr>
              <a:t>AI   </a:t>
            </a:r>
            <a:r>
              <a:rPr b="0" i="0" lang="en-US" sz="1600">
                <a:solidFill>
                  <a:srgbClr val="F1F3FA"/>
                </a:solidFill>
                <a:latin typeface="Plus Jakarta Sans"/>
                <a:ea typeface="Plus Jakarta Sans"/>
                <a:cs typeface="Plus Jakarta Sans"/>
                <a:sym typeface="Plus Jakarta Sans"/>
              </a:rPr>
              <a:t>AWS Bedrock (Claude, Frankfurt): reads and matches</a:t>
            </a:r>
            <a:endParaRPr/>
          </a:p>
        </p:txBody>
      </p:sp>
      <p:cxnSp>
        <p:nvCxnSpPr>
          <p:cNvPr id="432" name="Google Shape;432;p9"/>
          <p:cNvCxnSpPr/>
          <p:nvPr/>
        </p:nvCxnSpPr>
        <p:spPr>
          <a:xfrm>
            <a:off x="6080760" y="3557015"/>
            <a:ext cx="0" cy="201300"/>
          </a:xfrm>
          <a:prstGeom prst="straightConnector1">
            <a:avLst/>
          </a:prstGeom>
          <a:noFill/>
          <a:ln cap="flat" cmpd="sng" w="25400">
            <a:solidFill>
              <a:srgbClr val="7C82EE"/>
            </a:solidFill>
            <a:prstDash val="solid"/>
            <a:round/>
            <a:headEnd len="sm" w="sm" type="none"/>
            <a:tailEnd len="med" w="med" type="triangle"/>
          </a:ln>
          <a:effectLst>
            <a:outerShdw blurRad="40000" rotWithShape="0" dir="5400000" dist="20000">
              <a:srgbClr val="000000">
                <a:alpha val="38040"/>
              </a:srgbClr>
            </a:outerShdw>
          </a:effectLst>
        </p:spPr>
      </p:cxnSp>
      <p:sp>
        <p:nvSpPr>
          <p:cNvPr id="433" name="Google Shape;433;p9"/>
          <p:cNvSpPr/>
          <p:nvPr/>
        </p:nvSpPr>
        <p:spPr>
          <a:xfrm>
            <a:off x="1828800" y="3794760"/>
            <a:ext cx="8503800" cy="749700"/>
          </a:xfrm>
          <a:prstGeom prst="roundRect">
            <a:avLst>
              <a:gd fmla="val 6000" name="adj"/>
            </a:avLst>
          </a:prstGeom>
          <a:solidFill>
            <a:srgbClr val="1E2463"/>
          </a:solidFill>
          <a:ln cap="flat" cmpd="sng" w="9525">
            <a:solidFill>
              <a:srgbClr val="7C82EE"/>
            </a:solidFill>
            <a:prstDash val="solid"/>
            <a:round/>
            <a:headEnd len="sm" w="sm" type="none"/>
            <a:tailEnd len="sm" w="sm" type="none"/>
          </a:ln>
        </p:spPr>
        <p:txBody>
          <a:bodyPr anchorCtr="0" anchor="ctr" bIns="128000" lIns="182875" spcFirstLastPara="1" rIns="182875" wrap="square" tIns="128000">
            <a:noAutofit/>
          </a:bodyPr>
          <a:lstStyle/>
          <a:p>
            <a:pPr indent="0" lvl="0" marL="0" marR="0" rtl="0" algn="l">
              <a:spcBef>
                <a:spcPts val="0"/>
              </a:spcBef>
              <a:spcAft>
                <a:spcPts val="0"/>
              </a:spcAft>
              <a:buNone/>
            </a:pPr>
            <a:r>
              <a:rPr b="1" i="0" lang="en-US" sz="1200">
                <a:solidFill>
                  <a:srgbClr val="7C82EE"/>
                </a:solidFill>
                <a:latin typeface="Plus Jakarta Sans"/>
                <a:ea typeface="Plus Jakarta Sans"/>
                <a:cs typeface="Plus Jakarta Sans"/>
                <a:sym typeface="Plus Jakarta Sans"/>
              </a:rPr>
              <a:t>RULES   </a:t>
            </a:r>
            <a:r>
              <a:rPr b="0" i="0" lang="en-US" sz="1600">
                <a:solidFill>
                  <a:srgbClr val="F1F3FA"/>
                </a:solidFill>
                <a:latin typeface="Plus Jakarta Sans"/>
                <a:ea typeface="Plus Jakarta Sans"/>
                <a:cs typeface="Plus Jakarta Sans"/>
                <a:sym typeface="Plus Jakarta Sans"/>
              </a:rPr>
              <a:t>PerDiemo Labour Code engine via MCP: calculates and explains</a:t>
            </a:r>
            <a:endParaRPr/>
          </a:p>
        </p:txBody>
      </p:sp>
      <p:cxnSp>
        <p:nvCxnSpPr>
          <p:cNvPr id="434" name="Google Shape;434;p9"/>
          <p:cNvCxnSpPr/>
          <p:nvPr/>
        </p:nvCxnSpPr>
        <p:spPr>
          <a:xfrm>
            <a:off x="6080760" y="4562856"/>
            <a:ext cx="0" cy="201300"/>
          </a:xfrm>
          <a:prstGeom prst="straightConnector1">
            <a:avLst/>
          </a:prstGeom>
          <a:noFill/>
          <a:ln cap="flat" cmpd="sng" w="25400">
            <a:solidFill>
              <a:srgbClr val="7C82EE"/>
            </a:solidFill>
            <a:prstDash val="solid"/>
            <a:round/>
            <a:headEnd len="sm" w="sm" type="none"/>
            <a:tailEnd len="med" w="med" type="triangle"/>
          </a:ln>
          <a:effectLst>
            <a:outerShdw blurRad="40000" rotWithShape="0" dir="5400000" dist="20000">
              <a:srgbClr val="000000">
                <a:alpha val="38040"/>
              </a:srgbClr>
            </a:outerShdw>
          </a:effectLst>
        </p:spPr>
      </p:cxnSp>
      <p:sp>
        <p:nvSpPr>
          <p:cNvPr id="435" name="Google Shape;435;p9"/>
          <p:cNvSpPr/>
          <p:nvPr/>
        </p:nvSpPr>
        <p:spPr>
          <a:xfrm>
            <a:off x="1828800" y="4800600"/>
            <a:ext cx="8503800" cy="749700"/>
          </a:xfrm>
          <a:prstGeom prst="roundRect">
            <a:avLst>
              <a:gd fmla="val 6000" name="adj"/>
            </a:avLst>
          </a:prstGeom>
          <a:solidFill>
            <a:srgbClr val="0F2A24"/>
          </a:solidFill>
          <a:ln cap="flat" cmpd="sng" w="9525">
            <a:solidFill>
              <a:srgbClr val="2F8F6E"/>
            </a:solidFill>
            <a:prstDash val="solid"/>
            <a:round/>
            <a:headEnd len="sm" w="sm" type="none"/>
            <a:tailEnd len="sm" w="sm" type="none"/>
          </a:ln>
        </p:spPr>
        <p:txBody>
          <a:bodyPr anchorCtr="0" anchor="ctr" bIns="128000" lIns="182875" spcFirstLastPara="1" rIns="182875" wrap="square" tIns="128000">
            <a:noAutofit/>
          </a:bodyPr>
          <a:lstStyle/>
          <a:p>
            <a:pPr indent="0" lvl="0" marL="0" marR="0" rtl="0" algn="l">
              <a:spcBef>
                <a:spcPts val="0"/>
              </a:spcBef>
              <a:spcAft>
                <a:spcPts val="0"/>
              </a:spcAft>
              <a:buNone/>
            </a:pPr>
            <a:r>
              <a:rPr b="1" i="0" lang="en-US" sz="1200">
                <a:solidFill>
                  <a:srgbClr val="7C82EE"/>
                </a:solidFill>
                <a:latin typeface="Plus Jakarta Sans"/>
                <a:ea typeface="Plus Jakarta Sans"/>
                <a:cs typeface="Plus Jakarta Sans"/>
                <a:sym typeface="Plus Jakarta Sans"/>
              </a:rPr>
              <a:t>PAYOUT   </a:t>
            </a:r>
            <a:r>
              <a:rPr b="0" i="0" lang="en-US" sz="1600">
                <a:solidFill>
                  <a:srgbClr val="F1F3FA"/>
                </a:solidFill>
                <a:latin typeface="Plus Jakarta Sans"/>
                <a:ea typeface="Plus Jakarta Sans"/>
                <a:cs typeface="Plus Jakarta Sans"/>
                <a:sym typeface="Plus Jakarta Sans"/>
              </a:rPr>
              <a:t>Payments sandbox: exact amount to the employee</a:t>
            </a:r>
            <a:endParaRPr/>
          </a:p>
        </p:txBody>
      </p:sp>
      <p:sp>
        <p:nvSpPr>
          <p:cNvPr id="436" name="Google Shape;436;p9"/>
          <p:cNvSpPr txBox="1"/>
          <p:nvPr/>
        </p:nvSpPr>
        <p:spPr>
          <a:xfrm>
            <a:off x="1828800" y="5897880"/>
            <a:ext cx="8503800" cy="274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a:solidFill>
                  <a:srgbClr val="A9B0CF"/>
                </a:solidFill>
                <a:latin typeface="Plus Jakarta Sans"/>
                <a:ea typeface="Plus Jakarta Sans"/>
                <a:cs typeface="Plus Jakarta Sans"/>
                <a:sym typeface="Plus Jakarta Sans"/>
              </a:rPr>
              <a:t>Next: receipt photos cross-checked with transactions · calendar-prepared trips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B1220"/>
        </a:solidFill>
      </p:bgPr>
    </p:bg>
    <p:spTree>
      <p:nvGrpSpPr>
        <p:cNvPr id="440" name="Shape 440"/>
        <p:cNvGrpSpPr/>
        <p:nvPr/>
      </p:nvGrpSpPr>
      <p:grpSpPr>
        <a:xfrm>
          <a:off x="0" y="0"/>
          <a:ext cx="0" cy="0"/>
          <a:chOff x="0" y="0"/>
          <a:chExt cx="0" cy="0"/>
        </a:xfrm>
      </p:grpSpPr>
      <p:sp>
        <p:nvSpPr>
          <p:cNvPr id="441" name="Google Shape;441;p10"/>
          <p:cNvSpPr txBox="1"/>
          <p:nvPr/>
        </p:nvSpPr>
        <p:spPr>
          <a:xfrm>
            <a:off x="762000" y="1009650"/>
            <a:ext cx="1060704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700" u="none">
                <a:solidFill>
                  <a:srgbClr val="F1F3FA"/>
                </a:solidFill>
                <a:latin typeface="Plus Jakarta Sans"/>
                <a:ea typeface="Plus Jakarta Sans"/>
                <a:cs typeface="Plus Jakarta Sans"/>
                <a:sym typeface="Plus Jakarta Sans"/>
              </a:rPr>
              <a:t>AI reads. Rules decide.</a:t>
            </a:r>
            <a:endParaRPr/>
          </a:p>
        </p:txBody>
      </p:sp>
      <p:sp>
        <p:nvSpPr>
          <p:cNvPr id="442" name="Google Shape;442;p10"/>
          <p:cNvSpPr txBox="1"/>
          <p:nvPr/>
        </p:nvSpPr>
        <p:spPr>
          <a:xfrm>
            <a:off x="762000" y="609600"/>
            <a:ext cx="45720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a:solidFill>
                  <a:srgbClr val="F2A93B"/>
                </a:solidFill>
                <a:latin typeface="Space Grotesk"/>
                <a:ea typeface="Space Grotesk"/>
                <a:cs typeface="Space Grotesk"/>
                <a:sym typeface="Space Grotesk"/>
              </a:rPr>
              <a:t>SLIDE 10 / 12 • RESPONSIBLE AI</a:t>
            </a:r>
            <a:endParaRPr/>
          </a:p>
        </p:txBody>
      </p:sp>
      <p:sp>
        <p:nvSpPr>
          <p:cNvPr id="443" name="Google Shape;443;p10"/>
          <p:cNvSpPr txBox="1"/>
          <p:nvPr/>
        </p:nvSpPr>
        <p:spPr>
          <a:xfrm>
            <a:off x="8058150" y="609600"/>
            <a:ext cx="3657600"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50" u="none">
                <a:solidFill>
                  <a:srgbClr val="A9B0CF"/>
                </a:solidFill>
                <a:latin typeface="Space Grotesk"/>
                <a:ea typeface="Space Grotesk"/>
                <a:cs typeface="Space Grotesk"/>
                <a:sym typeface="Space Grotesk"/>
              </a:rPr>
              <a:t>COMPLIANCE</a:t>
            </a:r>
            <a:endParaRPr/>
          </a:p>
        </p:txBody>
      </p:sp>
      <p:sp>
        <p:nvSpPr>
          <p:cNvPr id="444" name="Google Shape;444;p10"/>
          <p:cNvSpPr/>
          <p:nvPr/>
        </p:nvSpPr>
        <p:spPr>
          <a:xfrm>
            <a:off x="758952" y="1828800"/>
            <a:ext cx="2880360" cy="1691640"/>
          </a:xfrm>
          <a:prstGeom prst="roundRect">
            <a:avLst>
              <a:gd fmla="val 6000" name="adj"/>
            </a:avLst>
          </a:prstGeom>
          <a:solidFill>
            <a:srgbClr val="161C2F"/>
          </a:solidFill>
          <a:ln cap="flat" cmpd="sng" w="9525">
            <a:solidFill>
              <a:srgbClr val="2A3352"/>
            </a:solidFill>
            <a:prstDash val="solid"/>
            <a:round/>
            <a:headEnd len="sm" w="sm" type="none"/>
            <a:tailEnd len="sm" w="sm" type="none"/>
          </a:ln>
        </p:spPr>
        <p:txBody>
          <a:bodyPr anchorCtr="0" anchor="t" bIns="128000" lIns="182875" spcFirstLastPara="1" rIns="182875" wrap="square" tIns="128000">
            <a:noAutofit/>
          </a:bodyPr>
          <a:lstStyle/>
          <a:p>
            <a:pPr indent="0" lvl="0" marL="0" marR="0" rtl="0" algn="l">
              <a:spcBef>
                <a:spcPts val="0"/>
              </a:spcBef>
              <a:spcAft>
                <a:spcPts val="0"/>
              </a:spcAft>
              <a:buNone/>
            </a:pPr>
            <a:r>
              <a:rPr b="1" i="0" lang="en-US" sz="1600">
                <a:solidFill>
                  <a:srgbClr val="F1F3FA"/>
                </a:solidFill>
                <a:latin typeface="Plus Jakarta Sans"/>
                <a:ea typeface="Plus Jakarta Sans"/>
                <a:cs typeface="Plus Jakarta Sans"/>
                <a:sym typeface="Plus Jakarta Sans"/>
              </a:rPr>
              <a:t>Calculated by law</a:t>
            </a:r>
            <a:endParaRPr/>
          </a:p>
          <a:p>
            <a:pPr indent="0" lvl="0" marL="0" marR="0" rtl="0" algn="l">
              <a:spcBef>
                <a:spcPts val="600"/>
              </a:spcBef>
              <a:spcAft>
                <a:spcPts val="0"/>
              </a:spcAft>
              <a:buNone/>
            </a:pPr>
            <a:r>
              <a:rPr b="0" i="0" lang="en-US" sz="1200">
                <a:solidFill>
                  <a:srgbClr val="A9B0CF"/>
                </a:solidFill>
                <a:latin typeface="Plus Jakarta Sans"/>
                <a:ea typeface="Plus Jakarta Sans"/>
                <a:cs typeface="Plus Jakarta Sans"/>
                <a:sym typeface="Plus Jakarta Sans"/>
              </a:rPr>
              <a:t>Every amount comes from the Labour Code engine, never guessed by AI.</a:t>
            </a:r>
            <a:endParaRPr/>
          </a:p>
        </p:txBody>
      </p:sp>
      <p:sp>
        <p:nvSpPr>
          <p:cNvPr id="445" name="Google Shape;445;p10"/>
          <p:cNvSpPr/>
          <p:nvPr/>
        </p:nvSpPr>
        <p:spPr>
          <a:xfrm>
            <a:off x="3822191" y="1828800"/>
            <a:ext cx="2880360" cy="1691640"/>
          </a:xfrm>
          <a:prstGeom prst="roundRect">
            <a:avLst>
              <a:gd fmla="val 6000" name="adj"/>
            </a:avLst>
          </a:prstGeom>
          <a:solidFill>
            <a:srgbClr val="161C2F"/>
          </a:solidFill>
          <a:ln cap="flat" cmpd="sng" w="9525">
            <a:solidFill>
              <a:srgbClr val="2A3352"/>
            </a:solidFill>
            <a:prstDash val="solid"/>
            <a:round/>
            <a:headEnd len="sm" w="sm" type="none"/>
            <a:tailEnd len="sm" w="sm" type="none"/>
          </a:ln>
        </p:spPr>
        <p:txBody>
          <a:bodyPr anchorCtr="0" anchor="t" bIns="128000" lIns="182875" spcFirstLastPara="1" rIns="182875" wrap="square" tIns="128000">
            <a:noAutofit/>
          </a:bodyPr>
          <a:lstStyle/>
          <a:p>
            <a:pPr indent="0" lvl="0" marL="0" marR="0" rtl="0" algn="l">
              <a:spcBef>
                <a:spcPts val="0"/>
              </a:spcBef>
              <a:spcAft>
                <a:spcPts val="0"/>
              </a:spcAft>
              <a:buNone/>
            </a:pPr>
            <a:r>
              <a:rPr b="1" i="0" lang="en-US" sz="1600">
                <a:solidFill>
                  <a:srgbClr val="F1F3FA"/>
                </a:solidFill>
                <a:latin typeface="Plus Jakarta Sans"/>
                <a:ea typeface="Plus Jakarta Sans"/>
                <a:cs typeface="Plus Jakarta Sans"/>
                <a:sym typeface="Plus Jakarta Sans"/>
              </a:rPr>
              <a:t>Explained</a:t>
            </a:r>
            <a:endParaRPr/>
          </a:p>
          <a:p>
            <a:pPr indent="0" lvl="0" marL="0" marR="0" rtl="0" algn="l">
              <a:spcBef>
                <a:spcPts val="600"/>
              </a:spcBef>
              <a:spcAft>
                <a:spcPts val="0"/>
              </a:spcAft>
              <a:buNone/>
            </a:pPr>
            <a:r>
              <a:rPr b="0" i="0" lang="en-US" sz="1200">
                <a:solidFill>
                  <a:srgbClr val="A9B0CF"/>
                </a:solidFill>
                <a:latin typeface="Plus Jakarta Sans"/>
                <a:ea typeface="Plus Jakarta Sans"/>
                <a:cs typeface="Plus Jakarta Sans"/>
                <a:sym typeface="Plus Jakarta Sans"/>
              </a:rPr>
              <a:t>Ask why any rule was applied and get a plain-language answer.</a:t>
            </a:r>
            <a:endParaRPr/>
          </a:p>
        </p:txBody>
      </p:sp>
      <p:sp>
        <p:nvSpPr>
          <p:cNvPr id="446" name="Google Shape;446;p10"/>
          <p:cNvSpPr/>
          <p:nvPr/>
        </p:nvSpPr>
        <p:spPr>
          <a:xfrm>
            <a:off x="758952" y="3703320"/>
            <a:ext cx="2880360" cy="1691640"/>
          </a:xfrm>
          <a:prstGeom prst="roundRect">
            <a:avLst>
              <a:gd fmla="val 6000" name="adj"/>
            </a:avLst>
          </a:prstGeom>
          <a:solidFill>
            <a:srgbClr val="161C2F"/>
          </a:solidFill>
          <a:ln cap="flat" cmpd="sng" w="9525">
            <a:solidFill>
              <a:srgbClr val="2A3352"/>
            </a:solidFill>
            <a:prstDash val="solid"/>
            <a:round/>
            <a:headEnd len="sm" w="sm" type="none"/>
            <a:tailEnd len="sm" w="sm" type="none"/>
          </a:ln>
        </p:spPr>
        <p:txBody>
          <a:bodyPr anchorCtr="0" anchor="t" bIns="128000" lIns="182875" spcFirstLastPara="1" rIns="182875" wrap="square" tIns="128000">
            <a:noAutofit/>
          </a:bodyPr>
          <a:lstStyle/>
          <a:p>
            <a:pPr indent="0" lvl="0" marL="0" marR="0" rtl="0" algn="l">
              <a:spcBef>
                <a:spcPts val="0"/>
              </a:spcBef>
              <a:spcAft>
                <a:spcPts val="0"/>
              </a:spcAft>
              <a:buNone/>
            </a:pPr>
            <a:r>
              <a:rPr b="1" i="0" lang="en-US" sz="1600">
                <a:solidFill>
                  <a:srgbClr val="F1F3FA"/>
                </a:solidFill>
                <a:latin typeface="Plus Jakarta Sans"/>
                <a:ea typeface="Plus Jakarta Sans"/>
                <a:cs typeface="Plus Jakarta Sans"/>
                <a:sym typeface="Plus Jakarta Sans"/>
              </a:rPr>
              <a:t>Audit trail</a:t>
            </a:r>
            <a:endParaRPr/>
          </a:p>
          <a:p>
            <a:pPr indent="0" lvl="0" marL="0" marR="0" rtl="0" algn="l">
              <a:spcBef>
                <a:spcPts val="600"/>
              </a:spcBef>
              <a:spcAft>
                <a:spcPts val="0"/>
              </a:spcAft>
              <a:buNone/>
            </a:pPr>
            <a:r>
              <a:rPr b="0" i="0" lang="en-US" sz="1200">
                <a:solidFill>
                  <a:srgbClr val="A9B0CF"/>
                </a:solidFill>
                <a:latin typeface="Plus Jakarta Sans"/>
                <a:ea typeface="Plus Jakarta Sans"/>
                <a:cs typeface="Plus Jakarta Sans"/>
                <a:sym typeface="Plus Jakarta Sans"/>
              </a:rPr>
              <a:t>Every trip keeps time, place, rule and source for each number.</a:t>
            </a:r>
            <a:endParaRPr/>
          </a:p>
        </p:txBody>
      </p:sp>
      <p:sp>
        <p:nvSpPr>
          <p:cNvPr id="447" name="Google Shape;447;p10"/>
          <p:cNvSpPr/>
          <p:nvPr/>
        </p:nvSpPr>
        <p:spPr>
          <a:xfrm>
            <a:off x="3822191" y="3703320"/>
            <a:ext cx="2880360" cy="1691640"/>
          </a:xfrm>
          <a:prstGeom prst="roundRect">
            <a:avLst>
              <a:gd fmla="val 6000" name="adj"/>
            </a:avLst>
          </a:prstGeom>
          <a:solidFill>
            <a:srgbClr val="161C2F"/>
          </a:solidFill>
          <a:ln cap="flat" cmpd="sng" w="9525">
            <a:solidFill>
              <a:srgbClr val="2A3352"/>
            </a:solidFill>
            <a:prstDash val="solid"/>
            <a:round/>
            <a:headEnd len="sm" w="sm" type="none"/>
            <a:tailEnd len="sm" w="sm" type="none"/>
          </a:ln>
        </p:spPr>
        <p:txBody>
          <a:bodyPr anchorCtr="0" anchor="t" bIns="128000" lIns="182875" spcFirstLastPara="1" rIns="182875" wrap="square" tIns="128000">
            <a:noAutofit/>
          </a:bodyPr>
          <a:lstStyle/>
          <a:p>
            <a:pPr indent="0" lvl="0" marL="0" marR="0" rtl="0" algn="l">
              <a:spcBef>
                <a:spcPts val="0"/>
              </a:spcBef>
              <a:spcAft>
                <a:spcPts val="0"/>
              </a:spcAft>
              <a:buNone/>
            </a:pPr>
            <a:r>
              <a:rPr b="1" i="0" lang="en-US" sz="1600">
                <a:solidFill>
                  <a:srgbClr val="F1F3FA"/>
                </a:solidFill>
                <a:latin typeface="Plus Jakarta Sans"/>
                <a:ea typeface="Plus Jakarta Sans"/>
                <a:cs typeface="Plus Jakarta Sans"/>
                <a:sym typeface="Plus Jakarta Sans"/>
              </a:rPr>
              <a:t>Data stays in the EU</a:t>
            </a:r>
            <a:endParaRPr/>
          </a:p>
          <a:p>
            <a:pPr indent="0" lvl="0" marL="0" marR="0" rtl="0" algn="l">
              <a:spcBef>
                <a:spcPts val="600"/>
              </a:spcBef>
              <a:spcAft>
                <a:spcPts val="0"/>
              </a:spcAft>
              <a:buNone/>
            </a:pPr>
            <a:r>
              <a:rPr b="0" i="0" lang="en-US" sz="1200">
                <a:solidFill>
                  <a:srgbClr val="A9B0CF"/>
                </a:solidFill>
                <a:latin typeface="Plus Jakarta Sans"/>
                <a:ea typeface="Plus Jakarta Sans"/>
                <a:cs typeface="Plus Jakarta Sans"/>
                <a:sym typeface="Plus Jakarta Sans"/>
              </a:rPr>
              <a:t>Built on AWS in Frankfurt (eu-central-1).</a:t>
            </a:r>
            <a:endParaRPr/>
          </a:p>
        </p:txBody>
      </p:sp>
      <p:sp>
        <p:nvSpPr>
          <p:cNvPr id="448" name="Google Shape;448;p10"/>
          <p:cNvSpPr/>
          <p:nvPr/>
        </p:nvSpPr>
        <p:spPr>
          <a:xfrm>
            <a:off x="7086600" y="1828800"/>
            <a:ext cx="4343400" cy="3566160"/>
          </a:xfrm>
          <a:prstGeom prst="roundRect">
            <a:avLst>
              <a:gd fmla="val 6000" name="adj"/>
            </a:avLst>
          </a:prstGeom>
          <a:solidFill>
            <a:srgbClr val="161C2F"/>
          </a:solidFill>
          <a:ln cap="flat" cmpd="sng" w="9525">
            <a:solidFill>
              <a:srgbClr val="2A33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10"/>
          <p:cNvSpPr/>
          <p:nvPr/>
        </p:nvSpPr>
        <p:spPr>
          <a:xfrm>
            <a:off x="7315200" y="2057400"/>
            <a:ext cx="1463040" cy="411480"/>
          </a:xfrm>
          <a:prstGeom prst="roundRect">
            <a:avLst>
              <a:gd fmla="val 6000" name="adj"/>
            </a:avLst>
          </a:prstGeom>
          <a:solidFill>
            <a:srgbClr val="0F2A24"/>
          </a:solidFill>
          <a:ln cap="flat" cmpd="sng" w="9525">
            <a:solidFill>
              <a:srgbClr val="2F8F6E"/>
            </a:solidFill>
            <a:prstDash val="solid"/>
            <a:round/>
            <a:headEnd len="sm" w="sm" type="none"/>
            <a:tailEnd len="sm" w="sm" type="none"/>
          </a:ln>
        </p:spPr>
        <p:txBody>
          <a:bodyPr anchorCtr="0" anchor="ctr" bIns="32000" lIns="45700" spcFirstLastPara="1" rIns="45700" wrap="square" tIns="32000">
            <a:noAutofit/>
          </a:bodyPr>
          <a:lstStyle/>
          <a:p>
            <a:pPr indent="0" lvl="0" marL="0" marR="0" rtl="0" algn="ctr">
              <a:spcBef>
                <a:spcPts val="0"/>
              </a:spcBef>
              <a:spcAft>
                <a:spcPts val="0"/>
              </a:spcAft>
              <a:buNone/>
            </a:pPr>
            <a:r>
              <a:rPr b="1" i="0" lang="en-US" sz="1200">
                <a:solidFill>
                  <a:srgbClr val="3FC79A"/>
                </a:solidFill>
                <a:latin typeface="Plus Jakarta Sans"/>
                <a:ea typeface="Plus Jakarta Sans"/>
                <a:cs typeface="Plus Jakarta Sans"/>
                <a:sym typeface="Plus Jakarta Sans"/>
              </a:rPr>
              <a:t>8 passed</a:t>
            </a:r>
            <a:endParaRPr/>
          </a:p>
        </p:txBody>
      </p:sp>
      <p:sp>
        <p:nvSpPr>
          <p:cNvPr id="450" name="Google Shape;450;p10"/>
          <p:cNvSpPr/>
          <p:nvPr/>
        </p:nvSpPr>
        <p:spPr>
          <a:xfrm>
            <a:off x="8915400" y="2057400"/>
            <a:ext cx="1463040" cy="411480"/>
          </a:xfrm>
          <a:prstGeom prst="roundRect">
            <a:avLst>
              <a:gd fmla="val 6000" name="adj"/>
            </a:avLst>
          </a:prstGeom>
          <a:solidFill>
            <a:srgbClr val="1E2463"/>
          </a:solidFill>
          <a:ln cap="flat" cmpd="sng" w="9525">
            <a:solidFill>
              <a:srgbClr val="7C82EE"/>
            </a:solidFill>
            <a:prstDash val="solid"/>
            <a:round/>
            <a:headEnd len="sm" w="sm" type="none"/>
            <a:tailEnd len="sm" w="sm" type="none"/>
          </a:ln>
        </p:spPr>
        <p:txBody>
          <a:bodyPr anchorCtr="0" anchor="ctr" bIns="32000" lIns="45700" spcFirstLastPara="1" rIns="45700" wrap="square" tIns="32000">
            <a:noAutofit/>
          </a:bodyPr>
          <a:lstStyle/>
          <a:p>
            <a:pPr indent="0" lvl="0" marL="0" marR="0" rtl="0" algn="ctr">
              <a:spcBef>
                <a:spcPts val="0"/>
              </a:spcBef>
              <a:spcAft>
                <a:spcPts val="0"/>
              </a:spcAft>
              <a:buNone/>
            </a:pPr>
            <a:r>
              <a:rPr b="1" i="0" lang="en-US" sz="1200">
                <a:solidFill>
                  <a:srgbClr val="7C82EE"/>
                </a:solidFill>
                <a:latin typeface="Plus Jakarta Sans"/>
                <a:ea typeface="Plus Jakarta Sans"/>
                <a:cs typeface="Plus Jakarta Sans"/>
                <a:sym typeface="Plus Jakarta Sans"/>
              </a:rPr>
              <a:t>1 flagged</a:t>
            </a:r>
            <a:endParaRPr/>
          </a:p>
        </p:txBody>
      </p:sp>
      <p:sp>
        <p:nvSpPr>
          <p:cNvPr id="451" name="Google Shape;451;p10"/>
          <p:cNvSpPr/>
          <p:nvPr/>
        </p:nvSpPr>
        <p:spPr>
          <a:xfrm>
            <a:off x="8595360" y="2697480"/>
            <a:ext cx="2651760" cy="530733"/>
          </a:xfrm>
          <a:prstGeom prst="roundRect">
            <a:avLst>
              <a:gd fmla="val 30000" name="adj"/>
            </a:avLst>
          </a:prstGeom>
          <a:solidFill>
            <a:srgbClr val="6A70E0"/>
          </a:solidFill>
          <a:ln>
            <a:noFill/>
          </a:ln>
        </p:spPr>
        <p:txBody>
          <a:bodyPr anchorCtr="0" anchor="ctr" bIns="115200" lIns="164575" spcFirstLastPara="1" rIns="164575" wrap="square" tIns="115200">
            <a:noAutofit/>
          </a:bodyPr>
          <a:lstStyle/>
          <a:p>
            <a:pPr indent="0" lvl="0" marL="0" marR="0" rtl="0" algn="l">
              <a:spcBef>
                <a:spcPts val="0"/>
              </a:spcBef>
              <a:spcAft>
                <a:spcPts val="0"/>
              </a:spcAft>
              <a:buNone/>
            </a:pPr>
            <a:r>
              <a:rPr b="0" i="0" lang="en-US" sz="1500">
                <a:solidFill>
                  <a:srgbClr val="FFFFFF"/>
                </a:solidFill>
                <a:latin typeface="Plus Jakarta Sans"/>
                <a:ea typeface="Plus Jakarta Sans"/>
                <a:cs typeface="Plus Jakarta Sans"/>
                <a:sym typeface="Plus Jakarta Sans"/>
              </a:rPr>
              <a:t>Why only 8 of 9?</a:t>
            </a:r>
            <a:endParaRPr/>
          </a:p>
        </p:txBody>
      </p:sp>
      <p:sp>
        <p:nvSpPr>
          <p:cNvPr id="452" name="Google Shape;452;p10"/>
          <p:cNvSpPr/>
          <p:nvPr/>
        </p:nvSpPr>
        <p:spPr>
          <a:xfrm>
            <a:off x="7269480" y="3411093"/>
            <a:ext cx="3931920" cy="911733"/>
          </a:xfrm>
          <a:prstGeom prst="roundRect">
            <a:avLst>
              <a:gd fmla="val 30000" name="adj"/>
            </a:avLst>
          </a:prstGeom>
          <a:solidFill>
            <a:srgbClr val="161C2F"/>
          </a:solidFill>
          <a:ln cap="flat" cmpd="sng" w="9525">
            <a:solidFill>
              <a:srgbClr val="2A3352"/>
            </a:solidFill>
            <a:prstDash val="solid"/>
            <a:round/>
            <a:headEnd len="sm" w="sm" type="none"/>
            <a:tailEnd len="sm" w="sm" type="none"/>
          </a:ln>
        </p:spPr>
        <p:txBody>
          <a:bodyPr anchorCtr="0" anchor="ctr" bIns="115200" lIns="164575" spcFirstLastPara="1" rIns="164575" wrap="square" tIns="115200">
            <a:noAutofit/>
          </a:bodyPr>
          <a:lstStyle/>
          <a:p>
            <a:pPr indent="0" lvl="0" marL="0" marR="0" rtl="0" algn="l">
              <a:spcBef>
                <a:spcPts val="0"/>
              </a:spcBef>
              <a:spcAft>
                <a:spcPts val="0"/>
              </a:spcAft>
              <a:buNone/>
            </a:pPr>
            <a:r>
              <a:rPr b="0" i="0" lang="en-US" sz="1300">
                <a:solidFill>
                  <a:srgbClr val="F1F3FA"/>
                </a:solidFill>
                <a:latin typeface="Plus Jakarta Sans"/>
                <a:ea typeface="Plus Jakarta Sans"/>
                <a:cs typeface="Plus Jakarta Sans"/>
                <a:sym typeface="Plus Jakarta Sans"/>
              </a:rPr>
              <a:t>One hotel payment falls outside the trip dates, so the company's travel-dates rule excluded it.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